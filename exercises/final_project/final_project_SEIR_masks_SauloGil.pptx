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2"/>
    <p:sldId id="257" r:id="rId3"/>
    <p:sldId id="280" r:id="rId4"/>
    <p:sldId id="281" r:id="rId5"/>
    <p:sldId id="258" r:id="rId6"/>
    <p:sldId id="259" r:id="rId7"/>
    <p:sldId id="270" r:id="rId8"/>
    <p:sldId id="271" r:id="rId9"/>
    <p:sldId id="260" r:id="rId10"/>
    <p:sldId id="273" r:id="rId11"/>
    <p:sldId id="272" r:id="rId12"/>
    <p:sldId id="275" r:id="rId13"/>
    <p:sldId id="274" r:id="rId14"/>
    <p:sldId id="276" r:id="rId15"/>
    <p:sldId id="277" r:id="rId16"/>
    <p:sldId id="268" r:id="rId17"/>
    <p:sldId id="278" r:id="rId18"/>
    <p:sldId id="269" r:id="rId19"/>
    <p:sldId id="27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2B9047-2557-4038-B38E-78A3CCD760BA}" v="25" dt="2025-12-08T20:42:17.1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4660"/>
  </p:normalViewPr>
  <p:slideViewPr>
    <p:cSldViewPr snapToGrid="0" snapToObjects="1">
      <p:cViewPr varScale="1">
        <p:scale>
          <a:sx n="70" d="100"/>
          <a:sy n="70" d="100"/>
        </p:scale>
        <p:origin x="1766" y="2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lo Gil" userId="e4b858b1fb629067" providerId="LiveId" clId="{794A9653-CC20-41E2-8B05-DE14A23145F3}"/>
    <pc:docChg chg="undo custSel addSld delSld modSld">
      <pc:chgData name="Saulo Gil" userId="e4b858b1fb629067" providerId="LiveId" clId="{794A9653-CC20-41E2-8B05-DE14A23145F3}" dt="2025-12-08T20:46:08.299" v="376" actId="1035"/>
      <pc:docMkLst>
        <pc:docMk/>
      </pc:docMkLst>
      <pc:sldChg chg="addSp delSp modSp del mod">
        <pc:chgData name="Saulo Gil" userId="e4b858b1fb629067" providerId="LiveId" clId="{794A9653-CC20-41E2-8B05-DE14A23145F3}" dt="2025-12-08T20:44:43.097" v="338" actId="47"/>
        <pc:sldMkLst>
          <pc:docMk/>
          <pc:sldMk cId="0" sldId="256"/>
        </pc:sldMkLst>
        <pc:spChg chg="add del mod">
          <ac:chgData name="Saulo Gil" userId="e4b858b1fb629067" providerId="LiveId" clId="{794A9653-CC20-41E2-8B05-DE14A23145F3}" dt="2025-12-08T20:39:45.269" v="220" actId="6549"/>
          <ac:spMkLst>
            <pc:docMk/>
            <pc:sldMk cId="0" sldId="256"/>
            <ac:spMk id="2" creationId="{00000000-0000-0000-0000-000000000000}"/>
          </ac:spMkLst>
        </pc:spChg>
        <pc:spChg chg="add del mod">
          <ac:chgData name="Saulo Gil" userId="e4b858b1fb629067" providerId="LiveId" clId="{794A9653-CC20-41E2-8B05-DE14A23145F3}" dt="2025-12-08T20:38:41.345" v="188" actId="478"/>
          <ac:spMkLst>
            <pc:docMk/>
            <pc:sldMk cId="0" sldId="256"/>
            <ac:spMk id="11" creationId="{B8CC5B34-0807-341E-F6B2-FE8199A0E766}"/>
          </ac:spMkLst>
        </pc:spChg>
        <pc:picChg chg="add del mod">
          <ac:chgData name="Saulo Gil" userId="e4b858b1fb629067" providerId="LiveId" clId="{794A9653-CC20-41E2-8B05-DE14A23145F3}" dt="2025-12-08T20:30:08.810" v="9" actId="478"/>
          <ac:picMkLst>
            <pc:docMk/>
            <pc:sldMk cId="0" sldId="256"/>
            <ac:picMk id="6" creationId="{95F182BE-853E-0970-A38E-4CCDC6EEF256}"/>
          </ac:picMkLst>
        </pc:picChg>
        <pc:picChg chg="add del mod">
          <ac:chgData name="Saulo Gil" userId="e4b858b1fb629067" providerId="LiveId" clId="{794A9653-CC20-41E2-8B05-DE14A23145F3}" dt="2025-12-08T20:39:50.726" v="222" actId="21"/>
          <ac:picMkLst>
            <pc:docMk/>
            <pc:sldMk cId="0" sldId="256"/>
            <ac:picMk id="7" creationId="{A6C954C9-0050-8FCF-AD5F-6C9F0F26F014}"/>
          </ac:picMkLst>
        </pc:picChg>
        <pc:picChg chg="add mod">
          <ac:chgData name="Saulo Gil" userId="e4b858b1fb629067" providerId="LiveId" clId="{794A9653-CC20-41E2-8B05-DE14A23145F3}" dt="2025-12-08T20:39:43.664" v="218" actId="1076"/>
          <ac:picMkLst>
            <pc:docMk/>
            <pc:sldMk cId="0" sldId="256"/>
            <ac:picMk id="14" creationId="{FA57FDEA-13C8-4C41-F383-2ACDA99E33E9}"/>
          </ac:picMkLst>
        </pc:picChg>
      </pc:sldChg>
      <pc:sldChg chg="addSp delSp modSp new del mod">
        <pc:chgData name="Saulo Gil" userId="e4b858b1fb629067" providerId="LiveId" clId="{794A9653-CC20-41E2-8B05-DE14A23145F3}" dt="2025-12-08T20:44:39.638" v="337" actId="47"/>
        <pc:sldMkLst>
          <pc:docMk/>
          <pc:sldMk cId="1388825042" sldId="282"/>
        </pc:sldMkLst>
        <pc:spChg chg="add del mod">
          <ac:chgData name="Saulo Gil" userId="e4b858b1fb629067" providerId="LiveId" clId="{794A9653-CC20-41E2-8B05-DE14A23145F3}" dt="2025-12-08T20:35:31.091" v="159" actId="21"/>
          <ac:spMkLst>
            <pc:docMk/>
            <pc:sldMk cId="1388825042" sldId="282"/>
            <ac:spMk id="8" creationId="{B298DCEC-51AB-9323-2EAD-81B00BDA6D43}"/>
          </ac:spMkLst>
        </pc:spChg>
        <pc:spChg chg="add del mod">
          <ac:chgData name="Saulo Gil" userId="e4b858b1fb629067" providerId="LiveId" clId="{794A9653-CC20-41E2-8B05-DE14A23145F3}" dt="2025-12-08T20:35:31.091" v="159" actId="21"/>
          <ac:spMkLst>
            <pc:docMk/>
            <pc:sldMk cId="1388825042" sldId="282"/>
            <ac:spMk id="9" creationId="{6D79B067-3195-F7A8-7F9A-20EA7837C6FB}"/>
          </ac:spMkLst>
        </pc:spChg>
        <pc:spChg chg="add del mod">
          <ac:chgData name="Saulo Gil" userId="e4b858b1fb629067" providerId="LiveId" clId="{794A9653-CC20-41E2-8B05-DE14A23145F3}" dt="2025-12-08T20:35:31.091" v="159" actId="21"/>
          <ac:spMkLst>
            <pc:docMk/>
            <pc:sldMk cId="1388825042" sldId="282"/>
            <ac:spMk id="10" creationId="{6ECC4561-9427-9D02-BDE9-DB549F56FF3C}"/>
          </ac:spMkLst>
        </pc:spChg>
        <pc:spChg chg="add del mod">
          <ac:chgData name="Saulo Gil" userId="e4b858b1fb629067" providerId="LiveId" clId="{794A9653-CC20-41E2-8B05-DE14A23145F3}" dt="2025-12-08T20:35:04.982" v="144" actId="21"/>
          <ac:spMkLst>
            <pc:docMk/>
            <pc:sldMk cId="1388825042" sldId="282"/>
            <ac:spMk id="11" creationId="{F1C69E04-2AD6-D7EC-EBC8-CD7CAFB581FA}"/>
          </ac:spMkLst>
        </pc:spChg>
        <pc:picChg chg="add del mod modCrop">
          <ac:chgData name="Saulo Gil" userId="e4b858b1fb629067" providerId="LiveId" clId="{794A9653-CC20-41E2-8B05-DE14A23145F3}" dt="2025-12-08T20:35:31.091" v="159" actId="21"/>
          <ac:picMkLst>
            <pc:docMk/>
            <pc:sldMk cId="1388825042" sldId="282"/>
            <ac:picMk id="2" creationId="{BE8A473F-B6FC-1D38-7318-FAF65B2F06C6}"/>
          </ac:picMkLst>
        </pc:picChg>
        <pc:picChg chg="add del mod modCrop">
          <ac:chgData name="Saulo Gil" userId="e4b858b1fb629067" providerId="LiveId" clId="{794A9653-CC20-41E2-8B05-DE14A23145F3}" dt="2025-12-08T20:35:31.091" v="159" actId="21"/>
          <ac:picMkLst>
            <pc:docMk/>
            <pc:sldMk cId="1388825042" sldId="282"/>
            <ac:picMk id="3" creationId="{8D62B7A5-DDE4-0187-095B-342CCC630EE4}"/>
          </ac:picMkLst>
        </pc:picChg>
        <pc:picChg chg="add del mod ord modCrop">
          <ac:chgData name="Saulo Gil" userId="e4b858b1fb629067" providerId="LiveId" clId="{794A9653-CC20-41E2-8B05-DE14A23145F3}" dt="2025-12-08T20:35:31.091" v="159" actId="21"/>
          <ac:picMkLst>
            <pc:docMk/>
            <pc:sldMk cId="1388825042" sldId="282"/>
            <ac:picMk id="4" creationId="{21019930-8133-F333-5889-3B7C752C7284}"/>
          </ac:picMkLst>
        </pc:picChg>
        <pc:picChg chg="add del mod modCrop">
          <ac:chgData name="Saulo Gil" userId="e4b858b1fb629067" providerId="LiveId" clId="{794A9653-CC20-41E2-8B05-DE14A23145F3}" dt="2025-12-08T20:34:00.146" v="125" actId="21"/>
          <ac:picMkLst>
            <pc:docMk/>
            <pc:sldMk cId="1388825042" sldId="282"/>
            <ac:picMk id="5" creationId="{FDCE55A2-DB60-C623-42DD-3258FF960F6F}"/>
          </ac:picMkLst>
        </pc:picChg>
        <pc:picChg chg="add del mod modCrop">
          <ac:chgData name="Saulo Gil" userId="e4b858b1fb629067" providerId="LiveId" clId="{794A9653-CC20-41E2-8B05-DE14A23145F3}" dt="2025-12-08T20:34:00.146" v="125" actId="21"/>
          <ac:picMkLst>
            <pc:docMk/>
            <pc:sldMk cId="1388825042" sldId="282"/>
            <ac:picMk id="6" creationId="{3ED778B9-D31B-2963-A8A6-A63AE7DFA7F9}"/>
          </ac:picMkLst>
        </pc:picChg>
        <pc:picChg chg="add del mod">
          <ac:chgData name="Saulo Gil" userId="e4b858b1fb629067" providerId="LiveId" clId="{794A9653-CC20-41E2-8B05-DE14A23145F3}" dt="2025-12-08T20:35:04.982" v="144" actId="21"/>
          <ac:picMkLst>
            <pc:docMk/>
            <pc:sldMk cId="1388825042" sldId="282"/>
            <ac:picMk id="7" creationId="{542DA7C5-0A88-A1EB-3E63-92B75BF861A1}"/>
          </ac:picMkLst>
        </pc:picChg>
        <pc:picChg chg="add mod modCrop">
          <ac:chgData name="Saulo Gil" userId="e4b858b1fb629067" providerId="LiveId" clId="{794A9653-CC20-41E2-8B05-DE14A23145F3}" dt="2025-12-08T20:40:54.680" v="238" actId="1076"/>
          <ac:picMkLst>
            <pc:docMk/>
            <pc:sldMk cId="1388825042" sldId="282"/>
            <ac:picMk id="12" creationId="{D7F3BD86-8DC8-585E-545C-202436F012EB}"/>
          </ac:picMkLst>
        </pc:picChg>
        <pc:picChg chg="add mod modCrop">
          <ac:chgData name="Saulo Gil" userId="e4b858b1fb629067" providerId="LiveId" clId="{794A9653-CC20-41E2-8B05-DE14A23145F3}" dt="2025-12-08T20:41:03.323" v="248" actId="1035"/>
          <ac:picMkLst>
            <pc:docMk/>
            <pc:sldMk cId="1388825042" sldId="282"/>
            <ac:picMk id="13" creationId="{E40A52EE-35C5-D9B0-5CC5-A960B5134444}"/>
          </ac:picMkLst>
        </pc:picChg>
        <pc:picChg chg="add del">
          <ac:chgData name="Saulo Gil" userId="e4b858b1fb629067" providerId="LiveId" clId="{794A9653-CC20-41E2-8B05-DE14A23145F3}" dt="2025-12-08T20:38:36.294" v="185" actId="21"/>
          <ac:picMkLst>
            <pc:docMk/>
            <pc:sldMk cId="1388825042" sldId="282"/>
            <ac:picMk id="14" creationId="{FA57FDEA-13C8-4C41-F383-2ACDA99E33E9}"/>
          </ac:picMkLst>
        </pc:picChg>
        <pc:picChg chg="add mod modCrop">
          <ac:chgData name="Saulo Gil" userId="e4b858b1fb629067" providerId="LiveId" clId="{794A9653-CC20-41E2-8B05-DE14A23145F3}" dt="2025-12-08T20:41:06.398" v="253" actId="1036"/>
          <ac:picMkLst>
            <pc:docMk/>
            <pc:sldMk cId="1388825042" sldId="282"/>
            <ac:picMk id="15" creationId="{A6C954C9-0050-8FCF-AD5F-6C9F0F26F014}"/>
          </ac:picMkLst>
        </pc:picChg>
        <pc:picChg chg="add mod modCrop">
          <ac:chgData name="Saulo Gil" userId="e4b858b1fb629067" providerId="LiveId" clId="{794A9653-CC20-41E2-8B05-DE14A23145F3}" dt="2025-12-08T20:40:42.490" v="235" actId="732"/>
          <ac:picMkLst>
            <pc:docMk/>
            <pc:sldMk cId="1388825042" sldId="282"/>
            <ac:picMk id="16" creationId="{7359000D-CBFF-A5F1-B1B6-4967CE848F6F}"/>
          </ac:picMkLst>
        </pc:picChg>
        <pc:picChg chg="add del mod modCrop">
          <ac:chgData name="Saulo Gil" userId="e4b858b1fb629067" providerId="LiveId" clId="{794A9653-CC20-41E2-8B05-DE14A23145F3}" dt="2025-12-08T20:42:12.280" v="297" actId="21"/>
          <ac:picMkLst>
            <pc:docMk/>
            <pc:sldMk cId="1388825042" sldId="282"/>
            <ac:picMk id="17" creationId="{43603C4D-674E-2DB7-D2A8-DACDA1FA89ED}"/>
          </ac:picMkLst>
        </pc:picChg>
      </pc:sldChg>
      <pc:sldChg chg="addSp delSp modSp add mod">
        <pc:chgData name="Saulo Gil" userId="e4b858b1fb629067" providerId="LiveId" clId="{794A9653-CC20-41E2-8B05-DE14A23145F3}" dt="2025-12-08T20:46:08.299" v="376" actId="1035"/>
        <pc:sldMkLst>
          <pc:docMk/>
          <pc:sldMk cId="90800949" sldId="283"/>
        </pc:sldMkLst>
        <pc:spChg chg="mod">
          <ac:chgData name="Saulo Gil" userId="e4b858b1fb629067" providerId="LiveId" clId="{794A9653-CC20-41E2-8B05-DE14A23145F3}" dt="2025-12-08T20:41:28.409" v="285" actId="1035"/>
          <ac:spMkLst>
            <pc:docMk/>
            <pc:sldMk cId="90800949" sldId="283"/>
            <ac:spMk id="2" creationId="{DDFAC80C-F073-1D49-0D7D-2C98388FC21C}"/>
          </ac:spMkLst>
        </pc:spChg>
        <pc:spChg chg="mod">
          <ac:chgData name="Saulo Gil" userId="e4b858b1fb629067" providerId="LiveId" clId="{794A9653-CC20-41E2-8B05-DE14A23145F3}" dt="2025-12-08T20:44:32.935" v="333" actId="1036"/>
          <ac:spMkLst>
            <pc:docMk/>
            <pc:sldMk cId="90800949" sldId="283"/>
            <ac:spMk id="3" creationId="{995F96EA-0AA6-278C-31F2-2349641DADC7}"/>
          </ac:spMkLst>
        </pc:spChg>
        <pc:picChg chg="add del mod modCrop">
          <ac:chgData name="Saulo Gil" userId="e4b858b1fb629067" providerId="LiveId" clId="{794A9653-CC20-41E2-8B05-DE14A23145F3}" dt="2025-12-08T20:42:16.795" v="300" actId="478"/>
          <ac:picMkLst>
            <pc:docMk/>
            <pc:sldMk cId="90800949" sldId="283"/>
            <ac:picMk id="6" creationId="{843D8992-8A0A-E455-8899-F29EB236FDFD}"/>
          </ac:picMkLst>
        </pc:picChg>
        <pc:picChg chg="add mod">
          <ac:chgData name="Saulo Gil" userId="e4b858b1fb629067" providerId="LiveId" clId="{794A9653-CC20-41E2-8B05-DE14A23145F3}" dt="2025-12-08T20:46:08.299" v="376" actId="1035"/>
          <ac:picMkLst>
            <pc:docMk/>
            <pc:sldMk cId="90800949" sldId="283"/>
            <ac:picMk id="7" creationId="{5F0818EA-C79B-DDBA-9326-5FA9A6587F6A}"/>
          </ac:picMkLst>
        </pc:picChg>
        <pc:picChg chg="add mod">
          <ac:chgData name="Saulo Gil" userId="e4b858b1fb629067" providerId="LiveId" clId="{794A9653-CC20-41E2-8B05-DE14A23145F3}" dt="2025-12-08T20:42:14.563" v="299"/>
          <ac:picMkLst>
            <pc:docMk/>
            <pc:sldMk cId="90800949" sldId="283"/>
            <ac:picMk id="17" creationId="{43603C4D-674E-2DB7-D2A8-DACDA1FA89E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3.wdp"/><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4.wdp"/></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7.png"/><Relationship Id="rId7"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9.png"/><Relationship Id="rId4" Type="http://schemas.microsoft.com/office/2007/relationships/hdphoto" Target="../media/hdphoto6.wdp"/></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7.wdp"/><Relationship Id="rId7"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9.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5BB8FD-EC2B-CA8B-F9C6-B86725CE8C2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B34B4D-B25E-CFFC-9104-48925B3AC9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3B924C8A-7232-E72E-F989-515F1AE816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A7198A1-49C4-7DF9-1A45-3B40F24D62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FAC80C-F073-1D49-0D7D-2C98388FC21C}"/>
              </a:ext>
            </a:extLst>
          </p:cNvPr>
          <p:cNvSpPr>
            <a:spLocks noGrp="1"/>
          </p:cNvSpPr>
          <p:nvPr>
            <p:ph type="ctrTitle"/>
          </p:nvPr>
        </p:nvSpPr>
        <p:spPr>
          <a:xfrm>
            <a:off x="751114" y="241276"/>
            <a:ext cx="7707086" cy="1950627"/>
          </a:xfrm>
        </p:spPr>
        <p:txBody>
          <a:bodyPr vert="horz" lIns="91440" tIns="45720" rIns="91440" bIns="45720" rtlCol="0" anchor="ctr">
            <a:normAutofit/>
          </a:bodyPr>
          <a:lstStyle/>
          <a:p>
            <a:pPr defTabSz="914400">
              <a:lnSpc>
                <a:spcPct val="90000"/>
              </a:lnSpc>
            </a:pPr>
            <a:r>
              <a:rPr lang="en-US" b="1" u="sng" kern="1200" dirty="0">
                <a:solidFill>
                  <a:schemeClr val="tx1"/>
                </a:solidFill>
                <a:latin typeface="+mj-lt"/>
                <a:ea typeface="+mj-ea"/>
                <a:cs typeface="+mj-cs"/>
              </a:rPr>
              <a:t>Final Project</a:t>
            </a:r>
            <a:endParaRPr lang="en-US" b="1"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995F96EA-0AA6-278C-31F2-2349641DADC7}"/>
              </a:ext>
            </a:extLst>
          </p:cNvPr>
          <p:cNvSpPr>
            <a:spLocks noGrp="1"/>
          </p:cNvSpPr>
          <p:nvPr>
            <p:ph type="subTitle" idx="1"/>
          </p:nvPr>
        </p:nvSpPr>
        <p:spPr>
          <a:xfrm>
            <a:off x="944880" y="4993824"/>
            <a:ext cx="7298327" cy="1513550"/>
          </a:xfrm>
        </p:spPr>
        <p:txBody>
          <a:bodyPr vert="horz" lIns="91440" tIns="45720" rIns="91440" bIns="45720" rtlCol="0" anchor="t">
            <a:normAutofit/>
          </a:bodyPr>
          <a:lstStyle/>
          <a:p>
            <a:pPr defTabSz="914400"/>
            <a:r>
              <a:rPr lang="en-US" sz="2100" dirty="0">
                <a:solidFill>
                  <a:schemeClr val="tx1"/>
                </a:solidFill>
              </a:rPr>
              <a:t>INF301: System Modeling and Simulation</a:t>
            </a:r>
          </a:p>
          <a:p>
            <a:pPr defTabSz="914400"/>
            <a:r>
              <a:rPr lang="en-US" sz="2100" dirty="0">
                <a:solidFill>
                  <a:schemeClr val="tx1"/>
                </a:solidFill>
              </a:rPr>
              <a:t>Saulo Gil</a:t>
            </a:r>
          </a:p>
          <a:p>
            <a:pPr defTabSz="914400"/>
            <a:r>
              <a:rPr lang="en-US" sz="2100" dirty="0">
                <a:solidFill>
                  <a:schemeClr val="tx1"/>
                </a:solidFill>
              </a:rPr>
              <a:t>Professor: Prof. Luiz Henrique </a:t>
            </a:r>
            <a:r>
              <a:rPr lang="en-US" sz="2100" dirty="0" err="1">
                <a:solidFill>
                  <a:schemeClr val="tx1"/>
                </a:solidFill>
              </a:rPr>
              <a:t>Bonani</a:t>
            </a:r>
            <a:r>
              <a:rPr lang="en-US" sz="2100" dirty="0">
                <a:solidFill>
                  <a:schemeClr val="tx1"/>
                </a:solidFill>
              </a:rPr>
              <a:t> do Nascimento</a:t>
            </a:r>
          </a:p>
        </p:txBody>
      </p:sp>
      <p:pic>
        <p:nvPicPr>
          <p:cNvPr id="4" name="Imagem 3">
            <a:extLst>
              <a:ext uri="{FF2B5EF4-FFF2-40B4-BE49-F238E27FC236}">
                <a16:creationId xmlns:a16="http://schemas.microsoft.com/office/drawing/2014/main" id="{E293AC59-2E73-F43F-1478-1A7B7CE4DA81}"/>
              </a:ext>
            </a:extLst>
          </p:cNvPr>
          <p:cNvPicPr>
            <a:picLocks noChangeAspect="1"/>
          </p:cNvPicPr>
          <p:nvPr/>
        </p:nvPicPr>
        <p:blipFill>
          <a:blip r:embed="rId2"/>
          <a:stretch>
            <a:fillRect/>
          </a:stretch>
        </p:blipFill>
        <p:spPr>
          <a:xfrm>
            <a:off x="751114" y="826876"/>
            <a:ext cx="841018" cy="828382"/>
          </a:xfrm>
          <a:prstGeom prst="rect">
            <a:avLst/>
          </a:prstGeom>
        </p:spPr>
      </p:pic>
      <p:pic>
        <p:nvPicPr>
          <p:cNvPr id="5" name="Imagem 4">
            <a:extLst>
              <a:ext uri="{FF2B5EF4-FFF2-40B4-BE49-F238E27FC236}">
                <a16:creationId xmlns:a16="http://schemas.microsoft.com/office/drawing/2014/main" id="{1627285A-2D10-06FB-611A-4A43D0757A8E}"/>
              </a:ext>
            </a:extLst>
          </p:cNvPr>
          <p:cNvPicPr>
            <a:picLocks noChangeAspect="1"/>
          </p:cNvPicPr>
          <p:nvPr/>
        </p:nvPicPr>
        <p:blipFill>
          <a:blip r:embed="rId2"/>
          <a:stretch>
            <a:fillRect/>
          </a:stretch>
        </p:blipFill>
        <p:spPr>
          <a:xfrm>
            <a:off x="7582199" y="813145"/>
            <a:ext cx="841018" cy="828382"/>
          </a:xfrm>
          <a:prstGeom prst="rect">
            <a:avLst/>
          </a:prstGeom>
        </p:spPr>
      </p:pic>
      <p:sp>
        <p:nvSpPr>
          <p:cNvPr id="6" name="Title 1">
            <a:extLst>
              <a:ext uri="{FF2B5EF4-FFF2-40B4-BE49-F238E27FC236}">
                <a16:creationId xmlns:a16="http://schemas.microsoft.com/office/drawing/2014/main" id="{F10A1424-42F5-BB09-8E9A-2A4FFAB00A8B}"/>
              </a:ext>
            </a:extLst>
          </p:cNvPr>
          <p:cNvSpPr txBox="1">
            <a:spLocks/>
          </p:cNvSpPr>
          <p:nvPr/>
        </p:nvSpPr>
        <p:spPr>
          <a:xfrm>
            <a:off x="759550" y="2116575"/>
            <a:ext cx="7707086" cy="1950627"/>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pPr>
            <a:r>
              <a:rPr lang="en-US" b="1"/>
              <a:t>Incorporating Mask-Related Transmission Variability into SEIR Models</a:t>
            </a:r>
            <a:endParaRPr lang="en-US" b="1" dirty="0"/>
          </a:p>
        </p:txBody>
      </p:sp>
    </p:spTree>
    <p:extLst>
      <p:ext uri="{BB962C8B-B14F-4D97-AF65-F5344CB8AC3E}">
        <p14:creationId xmlns:p14="http://schemas.microsoft.com/office/powerpoint/2010/main" val="90800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SARS-CoV-2: La geometría del enemigo">
            <a:extLst>
              <a:ext uri="{FF2B5EF4-FFF2-40B4-BE49-F238E27FC236}">
                <a16:creationId xmlns:a16="http://schemas.microsoft.com/office/drawing/2014/main" id="{EEF43C7C-573E-4E7D-BC2D-36CF907BA5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566" r="14766" b="74821"/>
          <a:stretch>
            <a:fillRect/>
          </a:stretch>
        </p:blipFill>
        <p:spPr bwMode="auto">
          <a:xfrm rot="20357472">
            <a:off x="6128041" y="790543"/>
            <a:ext cx="1838769" cy="1542124"/>
          </a:xfrm>
          <a:prstGeom prst="ellipse">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288593"/>
            <a:ext cx="7189470" cy="1618489"/>
          </a:xfrm>
        </p:spPr>
        <p:txBody>
          <a:bodyPr anchor="ctr">
            <a:normAutofit/>
          </a:bodyPr>
          <a:lstStyle/>
          <a:p>
            <a:pPr>
              <a:lnSpc>
                <a:spcPct val="90000"/>
              </a:lnSpc>
            </a:pPr>
            <a:r>
              <a:rPr lang="en-US" sz="5400" b="1" u="sng" dirty="0"/>
              <a:t>Introduction</a:t>
            </a:r>
          </a:p>
        </p:txBody>
      </p:sp>
      <p:sp>
        <p:nvSpPr>
          <p:cNvPr id="3" name="Content Placeholder 2"/>
          <p:cNvSpPr>
            <a:spLocks noGrp="1"/>
          </p:cNvSpPr>
          <p:nvPr>
            <p:ph idx="1"/>
          </p:nvPr>
        </p:nvSpPr>
        <p:spPr>
          <a:xfrm>
            <a:off x="696686" y="1371600"/>
            <a:ext cx="7737309" cy="4749501"/>
          </a:xfrm>
        </p:spPr>
        <p:txBody>
          <a:bodyPr anchor="t">
            <a:normAutofit fontScale="47500" lnSpcReduction="20000"/>
          </a:bodyPr>
          <a:lstStyle/>
          <a:p>
            <a:pPr algn="just">
              <a:lnSpc>
                <a:spcPct val="170000"/>
              </a:lnSpc>
            </a:pPr>
            <a:r>
              <a:rPr lang="en-US" sz="3800" dirty="0"/>
              <a:t>Viral epidemics are not uncommon in human history.</a:t>
            </a:r>
          </a:p>
          <a:p>
            <a:pPr lvl="1" algn="just">
              <a:lnSpc>
                <a:spcPct val="170000"/>
              </a:lnSpc>
            </a:pPr>
            <a:r>
              <a:rPr lang="en-US" dirty="0"/>
              <a:t>Severe acute respiratory syndrome coronavirus (SARS-CoV-1 virus);</a:t>
            </a:r>
          </a:p>
          <a:p>
            <a:pPr lvl="1" algn="just">
              <a:lnSpc>
                <a:spcPct val="170000"/>
              </a:lnSpc>
            </a:pPr>
            <a:r>
              <a:rPr lang="en-US" dirty="0"/>
              <a:t>Influenza A (H1N1 virus);</a:t>
            </a:r>
          </a:p>
          <a:p>
            <a:pPr lvl="1" algn="just">
              <a:lnSpc>
                <a:spcPct val="170000"/>
              </a:lnSpc>
            </a:pPr>
            <a:r>
              <a:rPr lang="en-US" dirty="0"/>
              <a:t>Middle East respiratory syndrome coronavirus (MERS-CoV virus);</a:t>
            </a:r>
          </a:p>
          <a:p>
            <a:pPr lvl="1" algn="just">
              <a:lnSpc>
                <a:spcPct val="170000"/>
              </a:lnSpc>
            </a:pPr>
            <a:r>
              <a:rPr lang="en-US" dirty="0"/>
              <a:t>Ebola virus disease;</a:t>
            </a:r>
          </a:p>
          <a:p>
            <a:pPr lvl="1" algn="just">
              <a:lnSpc>
                <a:spcPct val="170000"/>
              </a:lnSpc>
            </a:pPr>
            <a:r>
              <a:rPr lang="en-US" dirty="0"/>
              <a:t>COVID-19 (SARS-CoV-2 virus);</a:t>
            </a:r>
            <a:r>
              <a:rPr lang="en-US" sz="2000" dirty="0"/>
              <a:t> </a:t>
            </a:r>
            <a:endParaRPr lang="en-US" sz="3800" dirty="0"/>
          </a:p>
          <a:p>
            <a:pPr algn="just">
              <a:lnSpc>
                <a:spcPct val="170000"/>
              </a:lnSpc>
            </a:pPr>
            <a:r>
              <a:rPr lang="en-US" sz="3800" dirty="0"/>
              <a:t>These virus diseases have tested national health systems and the global governance architecture for health security.</a:t>
            </a:r>
          </a:p>
          <a:p>
            <a:pPr lvl="1" algn="just">
              <a:lnSpc>
                <a:spcPct val="150000"/>
              </a:lnSpc>
            </a:pPr>
            <a:endParaRPr lang="en-US" sz="2000" dirty="0"/>
          </a:p>
          <a:p>
            <a:pPr marL="0" indent="0" algn="ctr">
              <a:buNone/>
            </a:pPr>
            <a:r>
              <a:rPr lang="en-US" sz="5100" b="1" dirty="0">
                <a:solidFill>
                  <a:srgbClr val="FF0000"/>
                </a:solidFill>
              </a:rPr>
              <a:t>While forecasting the spread of a virus is a significant challenge, simulating various scenarios of disease transmission within a population can be valuable for enhancing preparedness for future epidemics</a:t>
            </a:r>
          </a:p>
        </p:txBody>
      </p:sp>
      <p:sp>
        <p:nvSpPr>
          <p:cNvPr id="5" name="CaixaDeTexto 4">
            <a:extLst>
              <a:ext uri="{FF2B5EF4-FFF2-40B4-BE49-F238E27FC236}">
                <a16:creationId xmlns:a16="http://schemas.microsoft.com/office/drawing/2014/main" id="{4DE54249-9429-4028-FBF1-4971B56390F0}"/>
              </a:ext>
            </a:extLst>
          </p:cNvPr>
          <p:cNvSpPr txBox="1"/>
          <p:nvPr/>
        </p:nvSpPr>
        <p:spPr>
          <a:xfrm>
            <a:off x="481330" y="6307117"/>
            <a:ext cx="8662670" cy="461665"/>
          </a:xfrm>
          <a:prstGeom prst="rect">
            <a:avLst/>
          </a:prstGeom>
          <a:noFill/>
        </p:spPr>
        <p:txBody>
          <a:bodyPr wrap="square">
            <a:spAutoFit/>
          </a:bodyPr>
          <a:lstStyle/>
          <a:p>
            <a:r>
              <a:rPr lang="en-US" sz="1200" dirty="0" err="1"/>
              <a:t>Bhadoria</a:t>
            </a:r>
            <a:r>
              <a:rPr lang="pt-BR" sz="1200" dirty="0"/>
              <a:t> et al., 2021, </a:t>
            </a:r>
            <a:r>
              <a:rPr lang="pt-BR" sz="1200" dirty="0" err="1"/>
              <a:t>Morens</a:t>
            </a:r>
            <a:r>
              <a:rPr lang="pt-BR" sz="1200" dirty="0"/>
              <a:t> et al., 2020</a:t>
            </a:r>
          </a:p>
          <a:p>
            <a:r>
              <a:rPr lang="pt-BR" sz="1200" dirty="0"/>
              <a:t>Wilder-Smith, 2021</a:t>
            </a:r>
            <a:endParaRPr lang="en-US" sz="1200" dirty="0"/>
          </a:p>
        </p:txBody>
      </p:sp>
      <p:pic>
        <p:nvPicPr>
          <p:cNvPr id="6" name="Imagem 5">
            <a:extLst>
              <a:ext uri="{FF2B5EF4-FFF2-40B4-BE49-F238E27FC236}">
                <a16:creationId xmlns:a16="http://schemas.microsoft.com/office/drawing/2014/main" id="{91327C81-3160-8EF4-F081-1081B9BD0BA3}"/>
              </a:ext>
            </a:extLst>
          </p:cNvPr>
          <p:cNvPicPr>
            <a:picLocks noChangeAspect="1"/>
          </p:cNvPicPr>
          <p:nvPr/>
        </p:nvPicPr>
        <p:blipFill>
          <a:blip r:embed="rId3"/>
          <a:srcRect l="24940" t="32829" r="54049" b="41992"/>
          <a:stretch>
            <a:fillRect/>
          </a:stretch>
        </p:blipFill>
        <p:spPr>
          <a:xfrm>
            <a:off x="6756537" y="2147278"/>
            <a:ext cx="1638890" cy="1548208"/>
          </a:xfrm>
          <a:prstGeom prst="ellipse">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8ACEFA-733F-E261-E6BE-28584787DE7A}"/>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0B107C6-46C6-3AF6-FDA0-908A919AE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338CA080-79AC-96F1-6C2B-98E1E03400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SARS-CoV-2: La geometría del enemigo">
            <a:extLst>
              <a:ext uri="{FF2B5EF4-FFF2-40B4-BE49-F238E27FC236}">
                <a16:creationId xmlns:a16="http://schemas.microsoft.com/office/drawing/2014/main" id="{3842AA54-8913-EAB6-ACD8-335DAE59EF1D}"/>
              </a:ext>
            </a:extLst>
          </p:cNvPr>
          <p:cNvPicPr>
            <a:picLocks noChangeAspect="1" noChangeArrowheads="1"/>
          </p:cNvPicPr>
          <p:nvPr/>
        </p:nvPicPr>
        <p:blipFill rotWithShape="1">
          <a:blip r:embed="rId2">
            <a:alphaModFix amt="20000"/>
            <a:extLst>
              <a:ext uri="{28A0092B-C50C-407E-A947-70E740481C1C}">
                <a14:useLocalDpi xmlns:a14="http://schemas.microsoft.com/office/drawing/2010/main" val="0"/>
              </a:ext>
            </a:extLst>
          </a:blip>
          <a:srcRect l="61566" r="14766" b="74821"/>
          <a:stretch>
            <a:fillRect/>
          </a:stretch>
        </p:blipFill>
        <p:spPr bwMode="auto">
          <a:xfrm rot="20357472">
            <a:off x="6128041" y="790543"/>
            <a:ext cx="1838769" cy="1542124"/>
          </a:xfrm>
          <a:prstGeom prst="ellipse">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7A478BED-D0A7-2643-6380-B0F833FA5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FFE5F7-DDD9-EF09-36CD-79845B5A89D5}"/>
              </a:ext>
            </a:extLst>
          </p:cNvPr>
          <p:cNvSpPr>
            <a:spLocks noGrp="1"/>
          </p:cNvSpPr>
          <p:nvPr>
            <p:ph type="title"/>
          </p:nvPr>
        </p:nvSpPr>
        <p:spPr>
          <a:xfrm>
            <a:off x="963930" y="288593"/>
            <a:ext cx="7189470" cy="1618489"/>
          </a:xfrm>
        </p:spPr>
        <p:txBody>
          <a:bodyPr anchor="ctr">
            <a:normAutofit/>
          </a:bodyPr>
          <a:lstStyle/>
          <a:p>
            <a:pPr>
              <a:lnSpc>
                <a:spcPct val="90000"/>
              </a:lnSpc>
            </a:pPr>
            <a:r>
              <a:rPr lang="en-US" sz="5400" b="1" u="sng" dirty="0"/>
              <a:t>Introduction</a:t>
            </a:r>
          </a:p>
        </p:txBody>
      </p:sp>
      <p:sp>
        <p:nvSpPr>
          <p:cNvPr id="3" name="Content Placeholder 2">
            <a:extLst>
              <a:ext uri="{FF2B5EF4-FFF2-40B4-BE49-F238E27FC236}">
                <a16:creationId xmlns:a16="http://schemas.microsoft.com/office/drawing/2014/main" id="{ECD0F5B4-D701-5CE6-0FD0-0DD0E49619FE}"/>
              </a:ext>
            </a:extLst>
          </p:cNvPr>
          <p:cNvSpPr>
            <a:spLocks noGrp="1"/>
          </p:cNvSpPr>
          <p:nvPr>
            <p:ph idx="1"/>
          </p:nvPr>
        </p:nvSpPr>
        <p:spPr>
          <a:xfrm>
            <a:off x="696686" y="1371600"/>
            <a:ext cx="7737309" cy="4749501"/>
          </a:xfrm>
        </p:spPr>
        <p:txBody>
          <a:bodyPr anchor="t">
            <a:normAutofit fontScale="47500" lnSpcReduction="20000"/>
          </a:bodyPr>
          <a:lstStyle/>
          <a:p>
            <a:pPr algn="just">
              <a:lnSpc>
                <a:spcPct val="170000"/>
              </a:lnSpc>
            </a:pPr>
            <a:r>
              <a:rPr lang="en-US" sz="3800" dirty="0">
                <a:solidFill>
                  <a:schemeClr val="bg1">
                    <a:lumMod val="85000"/>
                  </a:schemeClr>
                </a:solidFill>
              </a:rPr>
              <a:t>Viral pandemics are not uncommon in human history.</a:t>
            </a:r>
          </a:p>
          <a:p>
            <a:pPr lvl="1" algn="just">
              <a:lnSpc>
                <a:spcPct val="170000"/>
              </a:lnSpc>
            </a:pPr>
            <a:r>
              <a:rPr lang="en-US" dirty="0">
                <a:solidFill>
                  <a:schemeClr val="bg1">
                    <a:lumMod val="85000"/>
                  </a:schemeClr>
                </a:solidFill>
              </a:rPr>
              <a:t>Severe acute respiratory syndrome coronavirus (SARS-CoV-1 virus);</a:t>
            </a:r>
          </a:p>
          <a:p>
            <a:pPr lvl="1" algn="just">
              <a:lnSpc>
                <a:spcPct val="170000"/>
              </a:lnSpc>
            </a:pPr>
            <a:r>
              <a:rPr lang="en-US" dirty="0">
                <a:solidFill>
                  <a:schemeClr val="bg1">
                    <a:lumMod val="85000"/>
                  </a:schemeClr>
                </a:solidFill>
              </a:rPr>
              <a:t>Influenza A (H1N1 virus);</a:t>
            </a:r>
          </a:p>
          <a:p>
            <a:pPr lvl="1" algn="just">
              <a:lnSpc>
                <a:spcPct val="170000"/>
              </a:lnSpc>
            </a:pPr>
            <a:r>
              <a:rPr lang="en-US" dirty="0">
                <a:solidFill>
                  <a:schemeClr val="bg1">
                    <a:lumMod val="85000"/>
                  </a:schemeClr>
                </a:solidFill>
              </a:rPr>
              <a:t>Middle East respiratory syndrome coronavirus (MERS-CoV virus);</a:t>
            </a:r>
          </a:p>
          <a:p>
            <a:pPr lvl="1" algn="just">
              <a:lnSpc>
                <a:spcPct val="170000"/>
              </a:lnSpc>
            </a:pPr>
            <a:r>
              <a:rPr lang="en-US" dirty="0">
                <a:solidFill>
                  <a:schemeClr val="bg1">
                    <a:lumMod val="85000"/>
                  </a:schemeClr>
                </a:solidFill>
              </a:rPr>
              <a:t>Ebola virus disease;</a:t>
            </a:r>
          </a:p>
          <a:p>
            <a:pPr lvl="1" algn="just">
              <a:lnSpc>
                <a:spcPct val="170000"/>
              </a:lnSpc>
            </a:pPr>
            <a:r>
              <a:rPr lang="en-US" dirty="0">
                <a:solidFill>
                  <a:schemeClr val="bg1">
                    <a:lumMod val="85000"/>
                  </a:schemeClr>
                </a:solidFill>
              </a:rPr>
              <a:t>COVID-19 (SARS-CoV-2 virus);</a:t>
            </a:r>
            <a:r>
              <a:rPr lang="en-US" sz="2000" dirty="0">
                <a:solidFill>
                  <a:schemeClr val="bg1">
                    <a:lumMod val="85000"/>
                  </a:schemeClr>
                </a:solidFill>
              </a:rPr>
              <a:t> </a:t>
            </a:r>
            <a:endParaRPr lang="en-US" sz="3800" dirty="0">
              <a:solidFill>
                <a:schemeClr val="bg1">
                  <a:lumMod val="85000"/>
                </a:schemeClr>
              </a:solidFill>
            </a:endParaRPr>
          </a:p>
          <a:p>
            <a:pPr algn="just">
              <a:lnSpc>
                <a:spcPct val="170000"/>
              </a:lnSpc>
            </a:pPr>
            <a:r>
              <a:rPr lang="en-US" sz="3800" dirty="0">
                <a:solidFill>
                  <a:schemeClr val="bg1">
                    <a:lumMod val="85000"/>
                  </a:schemeClr>
                </a:solidFill>
              </a:rPr>
              <a:t>These virus diseases have tested national health systems and the global governance architecture for health security.</a:t>
            </a:r>
          </a:p>
          <a:p>
            <a:pPr lvl="1" algn="just">
              <a:lnSpc>
                <a:spcPct val="150000"/>
              </a:lnSpc>
            </a:pPr>
            <a:endParaRPr lang="en-US" sz="2000" dirty="0">
              <a:solidFill>
                <a:schemeClr val="bg1">
                  <a:lumMod val="85000"/>
                </a:schemeClr>
              </a:solidFill>
            </a:endParaRPr>
          </a:p>
          <a:p>
            <a:pPr marL="0" indent="0" algn="ctr">
              <a:buNone/>
            </a:pPr>
            <a:r>
              <a:rPr lang="en-US" sz="5100" b="1" dirty="0">
                <a:solidFill>
                  <a:schemeClr val="bg1">
                    <a:lumMod val="85000"/>
                  </a:schemeClr>
                </a:solidFill>
              </a:rPr>
              <a:t>While forecasting the spread of a virus is a significant challenge, simulating various scenarios of disease transmission within a population can be valuable for enhancing preparedness for future epidemics</a:t>
            </a:r>
          </a:p>
        </p:txBody>
      </p:sp>
      <p:sp>
        <p:nvSpPr>
          <p:cNvPr id="5" name="CaixaDeTexto 4">
            <a:extLst>
              <a:ext uri="{FF2B5EF4-FFF2-40B4-BE49-F238E27FC236}">
                <a16:creationId xmlns:a16="http://schemas.microsoft.com/office/drawing/2014/main" id="{674C1997-1FC2-3F0F-EB98-837460F30676}"/>
              </a:ext>
            </a:extLst>
          </p:cNvPr>
          <p:cNvSpPr txBox="1"/>
          <p:nvPr/>
        </p:nvSpPr>
        <p:spPr>
          <a:xfrm>
            <a:off x="481330" y="6307117"/>
            <a:ext cx="8662670" cy="461665"/>
          </a:xfrm>
          <a:prstGeom prst="rect">
            <a:avLst/>
          </a:prstGeom>
          <a:noFill/>
        </p:spPr>
        <p:txBody>
          <a:bodyPr wrap="square">
            <a:spAutoFit/>
          </a:bodyPr>
          <a:lstStyle/>
          <a:p>
            <a:r>
              <a:rPr lang="en-US" sz="1200" dirty="0" err="1"/>
              <a:t>Bhadoria</a:t>
            </a:r>
            <a:r>
              <a:rPr lang="pt-BR" sz="1200" dirty="0"/>
              <a:t> et al., 2021, </a:t>
            </a:r>
            <a:r>
              <a:rPr lang="pt-BR" sz="1200" dirty="0" err="1"/>
              <a:t>Morens</a:t>
            </a:r>
            <a:r>
              <a:rPr lang="pt-BR" sz="1200" dirty="0"/>
              <a:t> et al., 2020</a:t>
            </a:r>
          </a:p>
          <a:p>
            <a:r>
              <a:rPr lang="pt-BR" sz="1200" dirty="0"/>
              <a:t>Wilder-Smith, 2021</a:t>
            </a:r>
            <a:endParaRPr lang="en-US" sz="1200" dirty="0"/>
          </a:p>
        </p:txBody>
      </p:sp>
      <p:pic>
        <p:nvPicPr>
          <p:cNvPr id="6" name="Imagem 5">
            <a:extLst>
              <a:ext uri="{FF2B5EF4-FFF2-40B4-BE49-F238E27FC236}">
                <a16:creationId xmlns:a16="http://schemas.microsoft.com/office/drawing/2014/main" id="{5A88BB3B-44B2-DD81-3A0E-9E492D326014}"/>
              </a:ext>
            </a:extLst>
          </p:cNvPr>
          <p:cNvPicPr>
            <a:picLocks noChangeAspect="1"/>
          </p:cNvPicPr>
          <p:nvPr/>
        </p:nvPicPr>
        <p:blipFill>
          <a:blip r:embed="rId3">
            <a:alphaModFix amt="20000"/>
          </a:blip>
          <a:srcRect l="24940" t="32829" r="54049" b="41992"/>
          <a:stretch>
            <a:fillRect/>
          </a:stretch>
        </p:blipFill>
        <p:spPr>
          <a:xfrm>
            <a:off x="6756537" y="2147278"/>
            <a:ext cx="1638890" cy="1548208"/>
          </a:xfrm>
          <a:prstGeom prst="ellipse">
            <a:avLst/>
          </a:prstGeom>
        </p:spPr>
      </p:pic>
      <p:sp>
        <p:nvSpPr>
          <p:cNvPr id="7" name="Retângulo: Cantos Arredondados 6">
            <a:extLst>
              <a:ext uri="{FF2B5EF4-FFF2-40B4-BE49-F238E27FC236}">
                <a16:creationId xmlns:a16="http://schemas.microsoft.com/office/drawing/2014/main" id="{086FED02-C51A-2466-DA52-A517C3CB0CDC}"/>
              </a:ext>
            </a:extLst>
          </p:cNvPr>
          <p:cNvSpPr/>
          <p:nvPr/>
        </p:nvSpPr>
        <p:spPr>
          <a:xfrm>
            <a:off x="710006" y="1927998"/>
            <a:ext cx="7863840" cy="3392554"/>
          </a:xfrm>
          <a:prstGeom prst="roundRect">
            <a:avLst/>
          </a:prstGeom>
          <a:solidFill>
            <a:srgbClr val="FFFF00"/>
          </a:solid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000" b="1" dirty="0">
                <a:solidFill>
                  <a:srgbClr val="FF0000"/>
                </a:solidFill>
                <a:effectLst>
                  <a:outerShdw blurRad="38100" dist="38100" dir="2700000" algn="tl">
                    <a:srgbClr val="000000">
                      <a:alpha val="43137"/>
                    </a:srgbClr>
                  </a:outerShdw>
                </a:effectLst>
              </a:rPr>
              <a:t>In this scenario, mathematical models can be used to simulate different scenarios and, thus improving preparedness for future epidemics</a:t>
            </a:r>
          </a:p>
        </p:txBody>
      </p:sp>
    </p:spTree>
    <p:extLst>
      <p:ext uri="{BB962C8B-B14F-4D97-AF65-F5344CB8AC3E}">
        <p14:creationId xmlns:p14="http://schemas.microsoft.com/office/powerpoint/2010/main" val="4207474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79AE3C-0A97-FF56-E86B-D82C064F5B96}"/>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AE59DD3-50FA-5DC7-8150-529591E52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7C2BE3A8-293F-CCB7-0054-64E025E1CF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D1BD7A5-925E-252F-721F-5974EB402BD5}"/>
              </a:ext>
            </a:extLst>
          </p:cNvPr>
          <p:cNvSpPr>
            <a:spLocks noGrp="1"/>
          </p:cNvSpPr>
          <p:nvPr>
            <p:ph type="title"/>
          </p:nvPr>
        </p:nvSpPr>
        <p:spPr>
          <a:xfrm>
            <a:off x="963930" y="288593"/>
            <a:ext cx="7189470" cy="1618489"/>
          </a:xfrm>
        </p:spPr>
        <p:txBody>
          <a:bodyPr anchor="ctr">
            <a:normAutofit/>
          </a:bodyPr>
          <a:lstStyle/>
          <a:p>
            <a:pPr>
              <a:lnSpc>
                <a:spcPct val="90000"/>
              </a:lnSpc>
            </a:pPr>
            <a:r>
              <a:rPr lang="en-US" sz="5400" b="1" u="sng" dirty="0"/>
              <a:t>Introduction</a:t>
            </a:r>
          </a:p>
        </p:txBody>
      </p:sp>
      <p:sp>
        <p:nvSpPr>
          <p:cNvPr id="25" name="Rectangle 24">
            <a:extLst>
              <a:ext uri="{FF2B5EF4-FFF2-40B4-BE49-F238E27FC236}">
                <a16:creationId xmlns:a16="http://schemas.microsoft.com/office/drawing/2014/main" id="{CD6D48FA-6DE1-B0A8-0588-8D0F3ABF2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6C2B30B-A581-BA17-04D9-7E78C6B80311}"/>
              </a:ext>
            </a:extLst>
          </p:cNvPr>
          <p:cNvSpPr>
            <a:spLocks noGrp="1"/>
          </p:cNvSpPr>
          <p:nvPr>
            <p:ph idx="1"/>
          </p:nvPr>
        </p:nvSpPr>
        <p:spPr>
          <a:xfrm>
            <a:off x="696686" y="1350084"/>
            <a:ext cx="7737309" cy="5186183"/>
          </a:xfrm>
        </p:spPr>
        <p:txBody>
          <a:bodyPr anchor="t">
            <a:normAutofit fontScale="55000" lnSpcReduction="20000"/>
          </a:bodyPr>
          <a:lstStyle/>
          <a:p>
            <a:pPr algn="just">
              <a:lnSpc>
                <a:spcPct val="170000"/>
              </a:lnSpc>
            </a:pPr>
            <a:r>
              <a:rPr lang="en-US" sz="3600" dirty="0"/>
              <a:t>SEIR (Susceptible-Exposed-Infected-Recovered) model is widely used to represent the dynamics of viral epidemics in human populations.</a:t>
            </a:r>
          </a:p>
          <a:p>
            <a:pPr algn="just">
              <a:lnSpc>
                <a:spcPct val="170000"/>
              </a:lnSpc>
            </a:pPr>
            <a:r>
              <a:rPr lang="en-US" sz="3600" dirty="0"/>
              <a:t>SEIR model divides the population into four compartments:</a:t>
            </a:r>
          </a:p>
          <a:p>
            <a:pPr lvl="1" algn="just">
              <a:lnSpc>
                <a:spcPct val="170000"/>
              </a:lnSpc>
            </a:pPr>
            <a:r>
              <a:rPr lang="en-US" sz="2600" dirty="0"/>
              <a:t>Susceptible (S);</a:t>
            </a:r>
          </a:p>
          <a:p>
            <a:pPr lvl="1" algn="just">
              <a:lnSpc>
                <a:spcPct val="170000"/>
              </a:lnSpc>
            </a:pPr>
            <a:r>
              <a:rPr lang="en-US" sz="2600" dirty="0"/>
              <a:t>Exposed (E);</a:t>
            </a:r>
          </a:p>
          <a:p>
            <a:pPr lvl="1" algn="just">
              <a:lnSpc>
                <a:spcPct val="170000"/>
              </a:lnSpc>
            </a:pPr>
            <a:r>
              <a:rPr lang="en-US" sz="2600" dirty="0"/>
              <a:t>Infected (I);</a:t>
            </a:r>
          </a:p>
          <a:p>
            <a:pPr lvl="1" algn="just">
              <a:lnSpc>
                <a:spcPct val="170000"/>
              </a:lnSpc>
            </a:pPr>
            <a:r>
              <a:rPr lang="en-US" sz="2600" dirty="0"/>
              <a:t>Recovered (R); </a:t>
            </a:r>
          </a:p>
          <a:p>
            <a:pPr algn="just">
              <a:lnSpc>
                <a:spcPct val="170000"/>
              </a:lnSpc>
            </a:pPr>
            <a:r>
              <a:rPr lang="en-US" sz="3600" dirty="0"/>
              <a:t>Thus, transitions between compartments can be simulated using mathematical approaches, allowing hypothetical scenarios such as the impact of mask-based interventions to be evaluated</a:t>
            </a:r>
            <a:r>
              <a:rPr lang="en-US" dirty="0"/>
              <a:t>.</a:t>
            </a:r>
            <a:endParaRPr lang="en-US" sz="2000" dirty="0"/>
          </a:p>
        </p:txBody>
      </p:sp>
      <p:sp>
        <p:nvSpPr>
          <p:cNvPr id="5" name="CaixaDeTexto 4">
            <a:extLst>
              <a:ext uri="{FF2B5EF4-FFF2-40B4-BE49-F238E27FC236}">
                <a16:creationId xmlns:a16="http://schemas.microsoft.com/office/drawing/2014/main" id="{735C577C-AE1C-2409-E103-B23C00F242ED}"/>
              </a:ext>
            </a:extLst>
          </p:cNvPr>
          <p:cNvSpPr txBox="1"/>
          <p:nvPr/>
        </p:nvSpPr>
        <p:spPr>
          <a:xfrm>
            <a:off x="481330" y="6307117"/>
            <a:ext cx="8662670" cy="276999"/>
          </a:xfrm>
          <a:prstGeom prst="rect">
            <a:avLst/>
          </a:prstGeom>
          <a:noFill/>
        </p:spPr>
        <p:txBody>
          <a:bodyPr wrap="square">
            <a:spAutoFit/>
          </a:bodyPr>
          <a:lstStyle/>
          <a:p>
            <a:r>
              <a:rPr lang="pt-BR" sz="1200" dirty="0"/>
              <a:t>Liu, 2023</a:t>
            </a:r>
            <a:endParaRPr lang="en-US" sz="1200" dirty="0"/>
          </a:p>
        </p:txBody>
      </p:sp>
      <p:pic>
        <p:nvPicPr>
          <p:cNvPr id="17" name="Imagem 16">
            <a:extLst>
              <a:ext uri="{FF2B5EF4-FFF2-40B4-BE49-F238E27FC236}">
                <a16:creationId xmlns:a16="http://schemas.microsoft.com/office/drawing/2014/main" id="{6BDCEF11-5455-1F53-D858-5CC955D1F33B}"/>
              </a:ext>
            </a:extLst>
          </p:cNvPr>
          <p:cNvPicPr>
            <a:picLocks noChangeAspect="1"/>
          </p:cNvPicPr>
          <p:nvPr/>
        </p:nvPicPr>
        <p:blipFill>
          <a:blip r:embed="rId2"/>
          <a:srcRect t="56688"/>
          <a:stretch>
            <a:fillRect/>
          </a:stretch>
        </p:blipFill>
        <p:spPr>
          <a:xfrm>
            <a:off x="2711461" y="3505200"/>
            <a:ext cx="5835597" cy="1032901"/>
          </a:xfrm>
          <a:prstGeom prst="rect">
            <a:avLst/>
          </a:prstGeom>
        </p:spPr>
      </p:pic>
    </p:spTree>
    <p:extLst>
      <p:ext uri="{BB962C8B-B14F-4D97-AF65-F5344CB8AC3E}">
        <p14:creationId xmlns:p14="http://schemas.microsoft.com/office/powerpoint/2010/main" val="1094168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326571"/>
            <a:ext cx="7200356" cy="1319256"/>
          </a:xfrm>
        </p:spPr>
        <p:txBody>
          <a:bodyPr anchor="ctr">
            <a:normAutofit/>
          </a:bodyPr>
          <a:lstStyle/>
          <a:p>
            <a:r>
              <a:rPr lang="en-US" sz="5400" b="1" u="sng" dirty="0"/>
              <a:t>Objective</a:t>
            </a:r>
          </a:p>
        </p:txBody>
      </p:sp>
      <p:sp>
        <p:nvSpPr>
          <p:cNvPr id="3" name="Content Placeholder 2"/>
          <p:cNvSpPr>
            <a:spLocks noGrp="1"/>
          </p:cNvSpPr>
          <p:nvPr>
            <p:ph idx="1"/>
          </p:nvPr>
        </p:nvSpPr>
        <p:spPr>
          <a:xfrm>
            <a:off x="816429" y="1709056"/>
            <a:ext cx="7641771" cy="4245429"/>
          </a:xfrm>
        </p:spPr>
        <p:txBody>
          <a:bodyPr anchor="t">
            <a:normAutofit fontScale="92500" lnSpcReduction="10000"/>
          </a:bodyPr>
          <a:lstStyle/>
          <a:p>
            <a:pPr>
              <a:lnSpc>
                <a:spcPct val="150000"/>
              </a:lnSpc>
            </a:pPr>
            <a:r>
              <a:rPr lang="en-US" sz="2400" dirty="0"/>
              <a:t>To model the spread of COVID-19 in São Paulo (SP), Brazil using a SEIR model;</a:t>
            </a:r>
          </a:p>
          <a:p>
            <a:pPr>
              <a:lnSpc>
                <a:spcPct val="150000"/>
              </a:lnSpc>
            </a:pPr>
            <a:r>
              <a:rPr lang="en-US" sz="2400" dirty="0"/>
              <a:t>To incorporate, experimentally, mask-related changes in transmission rate (λ) to compare infection dynamics under different mask scenarios;</a:t>
            </a:r>
          </a:p>
          <a:p>
            <a:pPr>
              <a:lnSpc>
                <a:spcPct val="150000"/>
              </a:lnSpc>
            </a:pPr>
            <a:r>
              <a:rPr lang="en-US" sz="2400" dirty="0"/>
              <a:t>To estimate the impact on severe cases (≈ 15% of infections);</a:t>
            </a:r>
          </a:p>
          <a:p>
            <a:pPr>
              <a:lnSpc>
                <a:spcPct val="150000"/>
              </a:lnSpc>
            </a:pPr>
            <a:r>
              <a:rPr lang="en-US" sz="2400" dirty="0"/>
              <a:t>To assess whether mask use helps keep severe cases below the available emergency bed capacity.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266825"/>
            <a:ext cx="7407184" cy="1618489"/>
          </a:xfrm>
        </p:spPr>
        <p:txBody>
          <a:bodyPr anchor="ctr">
            <a:normAutofit/>
          </a:bodyPr>
          <a:lstStyle/>
          <a:p>
            <a:pPr>
              <a:lnSpc>
                <a:spcPct val="90000"/>
              </a:lnSpc>
            </a:pPr>
            <a:r>
              <a:rPr lang="en-US" sz="5400" b="1" u="sng" dirty="0"/>
              <a:t>SEIR Model Structure</a:t>
            </a:r>
          </a:p>
        </p:txBody>
      </p:sp>
      <p:sp>
        <p:nvSpPr>
          <p:cNvPr id="3" name="Content Placeholder 2"/>
          <p:cNvSpPr>
            <a:spLocks noGrp="1"/>
          </p:cNvSpPr>
          <p:nvPr>
            <p:ph idx="1"/>
          </p:nvPr>
        </p:nvSpPr>
        <p:spPr>
          <a:xfrm>
            <a:off x="772886" y="1458686"/>
            <a:ext cx="7598228" cy="4772471"/>
          </a:xfrm>
        </p:spPr>
        <p:txBody>
          <a:bodyPr anchor="t">
            <a:normAutofit fontScale="92500" lnSpcReduction="20000"/>
          </a:bodyPr>
          <a:lstStyle/>
          <a:p>
            <a:pPr marL="0" indent="0">
              <a:lnSpc>
                <a:spcPct val="150000"/>
              </a:lnSpc>
              <a:buNone/>
            </a:pPr>
            <a:r>
              <a:rPr lang="en-US" sz="1800" dirty="0"/>
              <a:t>For modeling the spread of COVID-19 transmission during the first wave (2020), four groups of individuals (compartments) were considered:</a:t>
            </a:r>
          </a:p>
          <a:p>
            <a:pPr>
              <a:lnSpc>
                <a:spcPct val="150000"/>
              </a:lnSpc>
            </a:pPr>
            <a:r>
              <a:rPr lang="en-US" sz="1800" b="1" u="sng" dirty="0"/>
              <a:t>Compartments</a:t>
            </a:r>
            <a:r>
              <a:rPr lang="en-US" sz="1800" dirty="0"/>
              <a:t>:</a:t>
            </a:r>
          </a:p>
          <a:p>
            <a:pPr lvl="1">
              <a:lnSpc>
                <a:spcPct val="150000"/>
              </a:lnSpc>
            </a:pPr>
            <a:r>
              <a:rPr lang="en-US" sz="1800" b="1" dirty="0"/>
              <a:t>S(t) </a:t>
            </a:r>
            <a:r>
              <a:rPr lang="en-US" sz="1800" dirty="0"/>
              <a:t>– Susceptible, </a:t>
            </a:r>
          </a:p>
          <a:p>
            <a:pPr lvl="1">
              <a:lnSpc>
                <a:spcPct val="150000"/>
              </a:lnSpc>
            </a:pPr>
            <a:r>
              <a:rPr lang="en-US" sz="1800" b="1" dirty="0"/>
              <a:t>E(t) </a:t>
            </a:r>
            <a:r>
              <a:rPr lang="en-US" sz="1800" dirty="0"/>
              <a:t>– Exposed, </a:t>
            </a:r>
          </a:p>
          <a:p>
            <a:pPr lvl="1">
              <a:lnSpc>
                <a:spcPct val="150000"/>
              </a:lnSpc>
            </a:pPr>
            <a:r>
              <a:rPr lang="en-US" sz="1800" b="1" dirty="0"/>
              <a:t>I(t) </a:t>
            </a:r>
            <a:r>
              <a:rPr lang="en-US" sz="1800" dirty="0"/>
              <a:t>– Infectious, </a:t>
            </a:r>
          </a:p>
          <a:p>
            <a:pPr lvl="1">
              <a:lnSpc>
                <a:spcPct val="150000"/>
              </a:lnSpc>
            </a:pPr>
            <a:r>
              <a:rPr lang="en-US" sz="1800" b="1" dirty="0"/>
              <a:t>R(t) </a:t>
            </a:r>
            <a:r>
              <a:rPr lang="en-US" sz="1800" dirty="0"/>
              <a:t>– Recovered.</a:t>
            </a:r>
          </a:p>
          <a:p>
            <a:pPr>
              <a:lnSpc>
                <a:spcPct val="150000"/>
              </a:lnSpc>
            </a:pPr>
            <a:r>
              <a:rPr lang="en-US" sz="1800" b="1" u="sng" dirty="0"/>
              <a:t>Total</a:t>
            </a:r>
            <a:r>
              <a:rPr lang="en-US" sz="1800" u="sng" dirty="0"/>
              <a:t> </a:t>
            </a:r>
            <a:r>
              <a:rPr lang="en-US" sz="1800" b="1" u="sng" dirty="0"/>
              <a:t>population</a:t>
            </a:r>
            <a:r>
              <a:rPr lang="en-US" sz="1800" u="sng" dirty="0"/>
              <a:t>:</a:t>
            </a:r>
            <a:r>
              <a:rPr lang="en-US" sz="1800" dirty="0"/>
              <a:t> N = S + E + I + R.</a:t>
            </a:r>
          </a:p>
          <a:p>
            <a:pPr>
              <a:lnSpc>
                <a:spcPct val="150000"/>
              </a:lnSpc>
            </a:pPr>
            <a:r>
              <a:rPr lang="en-US" sz="1800" b="1" u="sng" dirty="0"/>
              <a:t>Key parameters:</a:t>
            </a:r>
          </a:p>
          <a:p>
            <a:pPr lvl="1">
              <a:lnSpc>
                <a:spcPct val="150000"/>
              </a:lnSpc>
            </a:pPr>
            <a:r>
              <a:rPr lang="en-US" sz="1800" b="1" dirty="0"/>
              <a:t>λ</a:t>
            </a:r>
            <a:r>
              <a:rPr lang="en-US" sz="1800" dirty="0"/>
              <a:t> (infection rate), </a:t>
            </a:r>
          </a:p>
          <a:p>
            <a:pPr lvl="1">
              <a:lnSpc>
                <a:spcPct val="150000"/>
              </a:lnSpc>
            </a:pPr>
            <a:r>
              <a:rPr lang="en-US" sz="1800" b="1" dirty="0"/>
              <a:t>σ</a:t>
            </a:r>
            <a:r>
              <a:rPr lang="en-US" sz="1800" dirty="0"/>
              <a:t> (incubation rate), </a:t>
            </a:r>
          </a:p>
          <a:p>
            <a:pPr lvl="1">
              <a:lnSpc>
                <a:spcPct val="150000"/>
              </a:lnSpc>
            </a:pPr>
            <a:r>
              <a:rPr lang="en-US" sz="1800" b="1" dirty="0"/>
              <a:t>δ</a:t>
            </a:r>
            <a:r>
              <a:rPr lang="en-US" sz="1800" dirty="0"/>
              <a:t> (recovery rate).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AD56D1-4D04-C01C-8746-BB6C6D01719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4A351A-8A4A-AC90-635C-2CD182490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0380A8C-8784-5870-74D1-DB0B1F978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457A637-312D-D889-D097-0752EA4128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7CB0CB-82E6-0CC0-E2DE-566C208C21DB}"/>
              </a:ext>
            </a:extLst>
          </p:cNvPr>
          <p:cNvSpPr>
            <a:spLocks noGrp="1"/>
          </p:cNvSpPr>
          <p:nvPr>
            <p:ph type="title"/>
          </p:nvPr>
        </p:nvSpPr>
        <p:spPr>
          <a:xfrm>
            <a:off x="963930" y="266825"/>
            <a:ext cx="7407184" cy="1618489"/>
          </a:xfrm>
        </p:spPr>
        <p:txBody>
          <a:bodyPr anchor="ctr">
            <a:normAutofit/>
          </a:bodyPr>
          <a:lstStyle/>
          <a:p>
            <a:pPr>
              <a:lnSpc>
                <a:spcPct val="90000"/>
              </a:lnSpc>
            </a:pPr>
            <a:r>
              <a:rPr lang="en-US" sz="5400" b="1" u="sng" dirty="0"/>
              <a:t>SEIR Model Structure</a:t>
            </a:r>
          </a:p>
        </p:txBody>
      </p:sp>
      <p:sp>
        <p:nvSpPr>
          <p:cNvPr id="3" name="Content Placeholder 2">
            <a:extLst>
              <a:ext uri="{FF2B5EF4-FFF2-40B4-BE49-F238E27FC236}">
                <a16:creationId xmlns:a16="http://schemas.microsoft.com/office/drawing/2014/main" id="{062298E1-7013-120F-FBAD-1B3C19FEFF8E}"/>
              </a:ext>
            </a:extLst>
          </p:cNvPr>
          <p:cNvSpPr>
            <a:spLocks noGrp="1"/>
          </p:cNvSpPr>
          <p:nvPr>
            <p:ph idx="1"/>
          </p:nvPr>
        </p:nvSpPr>
        <p:spPr>
          <a:xfrm>
            <a:off x="685800" y="1458686"/>
            <a:ext cx="7685314" cy="950975"/>
          </a:xfrm>
        </p:spPr>
        <p:txBody>
          <a:bodyPr anchor="t">
            <a:normAutofit/>
          </a:bodyPr>
          <a:lstStyle/>
          <a:p>
            <a:pPr>
              <a:lnSpc>
                <a:spcPct val="150000"/>
              </a:lnSpc>
            </a:pPr>
            <a:r>
              <a:rPr lang="en-US" sz="1800" dirty="0"/>
              <a:t>So, the system of differential equations can be written as follows:</a:t>
            </a:r>
          </a:p>
        </p:txBody>
      </p:sp>
      <p:pic>
        <p:nvPicPr>
          <p:cNvPr id="5" name="Imagem 4">
            <a:extLst>
              <a:ext uri="{FF2B5EF4-FFF2-40B4-BE49-F238E27FC236}">
                <a16:creationId xmlns:a16="http://schemas.microsoft.com/office/drawing/2014/main" id="{3E424611-2E27-DCA0-1B51-B3E6DCE1E51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l="9189"/>
          <a:stretch>
            <a:fillRect/>
          </a:stretch>
        </p:blipFill>
        <p:spPr>
          <a:xfrm>
            <a:off x="963930" y="1969611"/>
            <a:ext cx="3128986" cy="3490354"/>
          </a:xfrm>
          <a:prstGeom prst="rect">
            <a:avLst/>
          </a:prstGeom>
        </p:spPr>
      </p:pic>
      <p:sp>
        <p:nvSpPr>
          <p:cNvPr id="9" name="CaixaDeTexto 8">
            <a:extLst>
              <a:ext uri="{FF2B5EF4-FFF2-40B4-BE49-F238E27FC236}">
                <a16:creationId xmlns:a16="http://schemas.microsoft.com/office/drawing/2014/main" id="{064B39C5-D767-59E6-FF3B-031D985278C1}"/>
              </a:ext>
            </a:extLst>
          </p:cNvPr>
          <p:cNvSpPr txBox="1"/>
          <p:nvPr/>
        </p:nvSpPr>
        <p:spPr>
          <a:xfrm>
            <a:off x="4184282" y="2720725"/>
            <a:ext cx="4572000" cy="3378104"/>
          </a:xfrm>
          <a:prstGeom prst="rect">
            <a:avLst/>
          </a:prstGeom>
          <a:noFill/>
        </p:spPr>
        <p:txBody>
          <a:bodyPr wrap="square">
            <a:spAutoFit/>
          </a:bodyPr>
          <a:lstStyle/>
          <a:p>
            <a:pPr>
              <a:lnSpc>
                <a:spcPct val="150000"/>
              </a:lnSpc>
            </a:pPr>
            <a:r>
              <a:rPr lang="en-US" sz="1600" b="1" u="sng" dirty="0"/>
              <a:t>Where</a:t>
            </a:r>
            <a:r>
              <a:rPr lang="en-US" sz="1600" dirty="0"/>
              <a:t>:</a:t>
            </a:r>
          </a:p>
          <a:p>
            <a:pPr lvl="1">
              <a:lnSpc>
                <a:spcPct val="150000"/>
              </a:lnSpc>
            </a:pPr>
            <a:r>
              <a:rPr lang="en-US" sz="1600" b="1" dirty="0"/>
              <a:t>S(t) </a:t>
            </a:r>
            <a:r>
              <a:rPr lang="en-US" sz="1600" dirty="0"/>
              <a:t>– number of susceptible individuals, </a:t>
            </a:r>
          </a:p>
          <a:p>
            <a:pPr lvl="1">
              <a:lnSpc>
                <a:spcPct val="150000"/>
              </a:lnSpc>
            </a:pPr>
            <a:r>
              <a:rPr lang="en-US" sz="1600" b="1" dirty="0"/>
              <a:t>E(t) </a:t>
            </a:r>
            <a:r>
              <a:rPr lang="en-US" sz="1600" dirty="0"/>
              <a:t>– number of exposed individuals, </a:t>
            </a:r>
          </a:p>
          <a:p>
            <a:pPr lvl="1">
              <a:lnSpc>
                <a:spcPct val="150000"/>
              </a:lnSpc>
            </a:pPr>
            <a:r>
              <a:rPr lang="en-US" sz="1600" b="1" dirty="0"/>
              <a:t>I(t) </a:t>
            </a:r>
            <a:r>
              <a:rPr lang="en-US" sz="1600" dirty="0"/>
              <a:t>– number of infectious individuals, </a:t>
            </a:r>
          </a:p>
          <a:p>
            <a:pPr lvl="1">
              <a:lnSpc>
                <a:spcPct val="150000"/>
              </a:lnSpc>
            </a:pPr>
            <a:r>
              <a:rPr lang="en-US" sz="1600" b="1" dirty="0"/>
              <a:t>R(t) </a:t>
            </a:r>
            <a:r>
              <a:rPr lang="en-US" sz="1600" dirty="0"/>
              <a:t>– number of recovered individuals.</a:t>
            </a:r>
          </a:p>
          <a:p>
            <a:pPr>
              <a:lnSpc>
                <a:spcPct val="150000"/>
              </a:lnSpc>
            </a:pPr>
            <a:r>
              <a:rPr lang="en-US" sz="1600" b="1" dirty="0"/>
              <a:t>	N</a:t>
            </a:r>
            <a:r>
              <a:rPr lang="en-US" sz="1600" dirty="0"/>
              <a:t> = total of population.</a:t>
            </a:r>
            <a:endParaRPr lang="en-US" sz="1600" b="1" u="sng" dirty="0"/>
          </a:p>
          <a:p>
            <a:pPr lvl="1">
              <a:lnSpc>
                <a:spcPct val="150000"/>
              </a:lnSpc>
            </a:pPr>
            <a:r>
              <a:rPr lang="en-US" sz="1600" b="1" dirty="0"/>
              <a:t>λ</a:t>
            </a:r>
            <a:r>
              <a:rPr lang="en-US" sz="1600" dirty="0"/>
              <a:t> = infection rate, </a:t>
            </a:r>
          </a:p>
          <a:p>
            <a:pPr lvl="1">
              <a:lnSpc>
                <a:spcPct val="150000"/>
              </a:lnSpc>
            </a:pPr>
            <a:r>
              <a:rPr lang="en-US" sz="1600" b="1" dirty="0"/>
              <a:t>σ</a:t>
            </a:r>
            <a:r>
              <a:rPr lang="en-US" sz="1600" dirty="0"/>
              <a:t> = incubation rate, </a:t>
            </a:r>
          </a:p>
          <a:p>
            <a:pPr lvl="1">
              <a:lnSpc>
                <a:spcPct val="150000"/>
              </a:lnSpc>
            </a:pPr>
            <a:r>
              <a:rPr lang="en-US" sz="1600" b="1" dirty="0"/>
              <a:t>δ</a:t>
            </a:r>
            <a:r>
              <a:rPr lang="en-US" sz="1600" dirty="0"/>
              <a:t> = recovery rate.</a:t>
            </a:r>
          </a:p>
        </p:txBody>
      </p:sp>
    </p:spTree>
    <p:extLst>
      <p:ext uri="{BB962C8B-B14F-4D97-AF65-F5344CB8AC3E}">
        <p14:creationId xmlns:p14="http://schemas.microsoft.com/office/powerpoint/2010/main" val="1243462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E3F1CC-5B56-0FE1-37AF-24704186EDD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F5D1B38-124F-C2A6-DD92-DB20649B8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877A7879-5AC9-E3EE-0C23-5D0AB3607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088465D-01D2-2593-ED81-B3A3BD6F6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6DEDB8-57BD-E4F2-4227-19D2EF0D6197}"/>
              </a:ext>
            </a:extLst>
          </p:cNvPr>
          <p:cNvSpPr>
            <a:spLocks noGrp="1"/>
          </p:cNvSpPr>
          <p:nvPr>
            <p:ph type="title"/>
          </p:nvPr>
        </p:nvSpPr>
        <p:spPr>
          <a:xfrm>
            <a:off x="963930" y="266825"/>
            <a:ext cx="7407184" cy="1618489"/>
          </a:xfrm>
        </p:spPr>
        <p:txBody>
          <a:bodyPr anchor="ctr">
            <a:normAutofit/>
          </a:bodyPr>
          <a:lstStyle/>
          <a:p>
            <a:pPr>
              <a:lnSpc>
                <a:spcPct val="90000"/>
              </a:lnSpc>
            </a:pPr>
            <a:r>
              <a:rPr lang="en-US" sz="5400" b="1" u="sng" dirty="0"/>
              <a:t>SEIR Model Structure</a:t>
            </a:r>
          </a:p>
        </p:txBody>
      </p:sp>
      <p:sp>
        <p:nvSpPr>
          <p:cNvPr id="3" name="Content Placeholder 2">
            <a:extLst>
              <a:ext uri="{FF2B5EF4-FFF2-40B4-BE49-F238E27FC236}">
                <a16:creationId xmlns:a16="http://schemas.microsoft.com/office/drawing/2014/main" id="{2F16DF78-4B66-1A13-9B0C-33D19EE2E551}"/>
              </a:ext>
            </a:extLst>
          </p:cNvPr>
          <p:cNvSpPr>
            <a:spLocks noGrp="1"/>
          </p:cNvSpPr>
          <p:nvPr>
            <p:ph idx="1"/>
          </p:nvPr>
        </p:nvSpPr>
        <p:spPr>
          <a:xfrm>
            <a:off x="685800" y="1458686"/>
            <a:ext cx="7772400" cy="950975"/>
          </a:xfrm>
        </p:spPr>
        <p:txBody>
          <a:bodyPr anchor="t">
            <a:noAutofit/>
          </a:bodyPr>
          <a:lstStyle/>
          <a:p>
            <a:pPr algn="just">
              <a:lnSpc>
                <a:spcPct val="150000"/>
              </a:lnSpc>
            </a:pPr>
            <a:r>
              <a:rPr lang="en-US" sz="1700" dirty="0"/>
              <a:t>Due to elevated complexity of differential equations, we can derive it to difference equations using the Euler method to numerically simulate the behavior of the system:</a:t>
            </a:r>
          </a:p>
        </p:txBody>
      </p:sp>
      <p:pic>
        <p:nvPicPr>
          <p:cNvPr id="6" name="Imagem 5">
            <a:extLst>
              <a:ext uri="{FF2B5EF4-FFF2-40B4-BE49-F238E27FC236}">
                <a16:creationId xmlns:a16="http://schemas.microsoft.com/office/drawing/2014/main" id="{E7005133-7EF2-0279-95F4-D51A00CF19D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295490" y="2508589"/>
            <a:ext cx="4714025" cy="3012877"/>
          </a:xfrm>
          <a:prstGeom prst="rect">
            <a:avLst/>
          </a:prstGeom>
        </p:spPr>
      </p:pic>
      <p:sp>
        <p:nvSpPr>
          <p:cNvPr id="7" name="CaixaDeTexto 6">
            <a:extLst>
              <a:ext uri="{FF2B5EF4-FFF2-40B4-BE49-F238E27FC236}">
                <a16:creationId xmlns:a16="http://schemas.microsoft.com/office/drawing/2014/main" id="{E5692116-51CD-8765-201E-EA4056401042}"/>
              </a:ext>
            </a:extLst>
          </p:cNvPr>
          <p:cNvSpPr txBox="1"/>
          <p:nvPr/>
        </p:nvSpPr>
        <p:spPr>
          <a:xfrm>
            <a:off x="2607086" y="5607194"/>
            <a:ext cx="4120872" cy="523220"/>
          </a:xfrm>
          <a:prstGeom prst="rect">
            <a:avLst/>
          </a:prstGeom>
          <a:noFill/>
        </p:spPr>
        <p:txBody>
          <a:bodyPr wrap="none" rtlCol="0">
            <a:spAutoFit/>
          </a:bodyPr>
          <a:lstStyle/>
          <a:p>
            <a:r>
              <a:rPr lang="pt-BR" sz="2800" b="1" u="sng" dirty="0" err="1">
                <a:solidFill>
                  <a:srgbClr val="FF0000"/>
                </a:solidFill>
              </a:rPr>
              <a:t>Discrete</a:t>
            </a:r>
            <a:r>
              <a:rPr lang="pt-BR" sz="2800" b="1" u="sng" dirty="0">
                <a:solidFill>
                  <a:srgbClr val="FF0000"/>
                </a:solidFill>
              </a:rPr>
              <a:t> time = step (</a:t>
            </a:r>
            <a:r>
              <a:rPr lang="pt-BR" sz="2800" b="1" u="sng" dirty="0" err="1">
                <a:solidFill>
                  <a:srgbClr val="FF0000"/>
                </a:solidFill>
              </a:rPr>
              <a:t>days</a:t>
            </a:r>
            <a:r>
              <a:rPr lang="pt-BR" sz="2800" b="1" u="sng" dirty="0">
                <a:solidFill>
                  <a:srgbClr val="FF0000"/>
                </a:solidFill>
              </a:rPr>
              <a:t>)</a:t>
            </a:r>
          </a:p>
        </p:txBody>
      </p:sp>
    </p:spTree>
    <p:extLst>
      <p:ext uri="{BB962C8B-B14F-4D97-AF65-F5344CB8AC3E}">
        <p14:creationId xmlns:p14="http://schemas.microsoft.com/office/powerpoint/2010/main" val="3595193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1330" y="615167"/>
            <a:ext cx="8178790" cy="1618489"/>
          </a:xfrm>
        </p:spPr>
        <p:txBody>
          <a:bodyPr anchor="ctr">
            <a:normAutofit/>
          </a:bodyPr>
          <a:lstStyle/>
          <a:p>
            <a:pPr>
              <a:lnSpc>
                <a:spcPct val="90000"/>
              </a:lnSpc>
            </a:pPr>
            <a:r>
              <a:rPr lang="en-US" sz="5400" b="1" u="sng" dirty="0"/>
              <a:t>Model Parameters &amp; Mask Scenarios</a:t>
            </a:r>
          </a:p>
        </p:txBody>
      </p:sp>
      <p:sp>
        <p:nvSpPr>
          <p:cNvPr id="3" name="Content Placeholder 2"/>
          <p:cNvSpPr>
            <a:spLocks noGrp="1"/>
          </p:cNvSpPr>
          <p:nvPr>
            <p:ph idx="1"/>
          </p:nvPr>
        </p:nvSpPr>
        <p:spPr>
          <a:xfrm>
            <a:off x="963930" y="2674280"/>
            <a:ext cx="7545369" cy="3536208"/>
          </a:xfrm>
        </p:spPr>
        <p:txBody>
          <a:bodyPr anchor="t">
            <a:normAutofit/>
          </a:bodyPr>
          <a:lstStyle/>
          <a:p>
            <a:pPr>
              <a:lnSpc>
                <a:spcPct val="150000"/>
              </a:lnSpc>
            </a:pPr>
            <a:r>
              <a:rPr lang="en-US" sz="2100" dirty="0"/>
              <a:t>Base epidemiological parameters (literature):</a:t>
            </a:r>
          </a:p>
        </p:txBody>
      </p:sp>
      <p:pic>
        <p:nvPicPr>
          <p:cNvPr id="5" name="Imagem 4">
            <a:extLst>
              <a:ext uri="{FF2B5EF4-FFF2-40B4-BE49-F238E27FC236}">
                <a16:creationId xmlns:a16="http://schemas.microsoft.com/office/drawing/2014/main" id="{CD25922E-4A88-6FD8-0FBF-9F45BFC732E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738738" y="3506629"/>
            <a:ext cx="7666524" cy="2389067"/>
          </a:xfrm>
          <a:prstGeom prst="rect">
            <a:avLst/>
          </a:prstGeom>
        </p:spPr>
      </p:pic>
      <p:pic>
        <p:nvPicPr>
          <p:cNvPr id="15" name="Imagem 14">
            <a:extLst>
              <a:ext uri="{FF2B5EF4-FFF2-40B4-BE49-F238E27FC236}">
                <a16:creationId xmlns:a16="http://schemas.microsoft.com/office/drawing/2014/main" id="{39E626DE-B6F0-E6C5-A8A3-6B67FEE36C36}"/>
              </a:ext>
            </a:extLst>
          </p:cNvPr>
          <p:cNvPicPr>
            <a:picLocks noChangeAspect="1"/>
          </p:cNvPicPr>
          <p:nvPr/>
        </p:nvPicPr>
        <p:blipFill>
          <a:blip r:embed="rId4"/>
          <a:stretch>
            <a:fillRect/>
          </a:stretch>
        </p:blipFill>
        <p:spPr>
          <a:xfrm flipH="1">
            <a:off x="6601216" y="1574039"/>
            <a:ext cx="1654250" cy="1654250"/>
          </a:xfrm>
          <a:prstGeom prst="rect">
            <a:avLst/>
          </a:prstGeom>
        </p:spPr>
      </p:pic>
      <p:pic>
        <p:nvPicPr>
          <p:cNvPr id="16" name="Imagem 15">
            <a:extLst>
              <a:ext uri="{FF2B5EF4-FFF2-40B4-BE49-F238E27FC236}">
                <a16:creationId xmlns:a16="http://schemas.microsoft.com/office/drawing/2014/main" id="{175A4DF3-A2A1-6200-7E18-ECF4B89B5E61}"/>
              </a:ext>
            </a:extLst>
          </p:cNvPr>
          <p:cNvPicPr>
            <a:picLocks noChangeAspect="1"/>
          </p:cNvPicPr>
          <p:nvPr/>
        </p:nvPicPr>
        <p:blipFill>
          <a:blip r:embed="rId5">
            <a:duotone>
              <a:prstClr val="black"/>
              <a:schemeClr val="accent3">
                <a:tint val="45000"/>
                <a:satMod val="400000"/>
              </a:schemeClr>
            </a:duotone>
            <a:extLst>
              <a:ext uri="{BEBA8EAE-BF5A-486C-A8C5-ECC9F3942E4B}">
                <a14:imgProps xmlns:a14="http://schemas.microsoft.com/office/drawing/2010/main">
                  <a14:imgLayer r:embed="rId6">
                    <a14:imgEffect>
                      <a14:backgroundRemoval t="10000" b="90000" l="10000" r="90000"/>
                    </a14:imgEffect>
                  </a14:imgLayer>
                </a14:imgProps>
              </a:ext>
            </a:extLst>
          </a:blip>
          <a:srcRect l="13229" t="10894" r="9376" b="31196"/>
          <a:stretch>
            <a:fillRect/>
          </a:stretch>
        </p:blipFill>
        <p:spPr>
          <a:xfrm>
            <a:off x="511145" y="4129751"/>
            <a:ext cx="420409" cy="196907"/>
          </a:xfrm>
          <a:prstGeom prst="rect">
            <a:avLst/>
          </a:prstGeom>
        </p:spPr>
      </p:pic>
      <p:pic>
        <p:nvPicPr>
          <p:cNvPr id="17" name="Imagem 16">
            <a:extLst>
              <a:ext uri="{FF2B5EF4-FFF2-40B4-BE49-F238E27FC236}">
                <a16:creationId xmlns:a16="http://schemas.microsoft.com/office/drawing/2014/main" id="{73B5FBC7-34BA-85D8-6BAA-6BA0768704FF}"/>
              </a:ext>
            </a:extLst>
          </p:cNvPr>
          <p:cNvPicPr>
            <a:picLocks noChangeAspect="1"/>
          </p:cNvPicPr>
          <p:nvPr/>
        </p:nvPicPr>
        <p:blipFill>
          <a:blip r:embed="rId7">
            <a:duotone>
              <a:schemeClr val="accent1">
                <a:shade val="45000"/>
                <a:satMod val="135000"/>
              </a:schemeClr>
              <a:prstClr val="white"/>
            </a:duotone>
          </a:blip>
          <a:stretch>
            <a:fillRect/>
          </a:stretch>
        </p:blipFill>
        <p:spPr>
          <a:xfrm>
            <a:off x="466768" y="4386370"/>
            <a:ext cx="511565" cy="339337"/>
          </a:xfrm>
          <a:prstGeom prst="rect">
            <a:avLst/>
          </a:prstGeom>
        </p:spPr>
      </p:pic>
      <p:pic>
        <p:nvPicPr>
          <p:cNvPr id="18" name="Imagem 17">
            <a:extLst>
              <a:ext uri="{FF2B5EF4-FFF2-40B4-BE49-F238E27FC236}">
                <a16:creationId xmlns:a16="http://schemas.microsoft.com/office/drawing/2014/main" id="{1DE7663E-A4FC-38D8-27EB-1869F7BE3019}"/>
              </a:ext>
            </a:extLst>
          </p:cNvPr>
          <p:cNvPicPr>
            <a:picLocks noChangeAspect="1"/>
          </p:cNvPicPr>
          <p:nvPr/>
        </p:nvPicPr>
        <p:blipFill>
          <a:blip r:embed="rId8"/>
          <a:srcRect l="8958" t="9216" r="17139" b="9686"/>
          <a:stretch>
            <a:fillRect/>
          </a:stretch>
        </p:blipFill>
        <p:spPr>
          <a:xfrm>
            <a:off x="539985" y="4698781"/>
            <a:ext cx="384339" cy="280074"/>
          </a:xfrm>
          <a:prstGeom prst="rect">
            <a:avLst/>
          </a:prstGeom>
        </p:spPr>
      </p:pic>
      <p:sp>
        <p:nvSpPr>
          <p:cNvPr id="19" name="Símbolo de &quot;Não Permitido&quot; 18">
            <a:extLst>
              <a:ext uri="{FF2B5EF4-FFF2-40B4-BE49-F238E27FC236}">
                <a16:creationId xmlns:a16="http://schemas.microsoft.com/office/drawing/2014/main" id="{70E67817-A5C8-1D28-7411-943302C49488}"/>
              </a:ext>
            </a:extLst>
          </p:cNvPr>
          <p:cNvSpPr/>
          <p:nvPr/>
        </p:nvSpPr>
        <p:spPr>
          <a:xfrm>
            <a:off x="615855" y="3835731"/>
            <a:ext cx="197067" cy="180873"/>
          </a:xfrm>
          <a:prstGeom prst="noSmoking">
            <a:avLst>
              <a:gd name="adj" fmla="val 13135"/>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1E02D2-A053-70F1-170A-6EEE673EAED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E30AB0-B5AC-4AC6-CB28-8123B07DE3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B2C69E2F-C7CD-6C4D-7CE5-A672492E0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9D6B63C-AC9B-31CB-D50C-8B04CDE5C3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ABB8F5-BE7A-4364-FDE5-F4B47AEF59A7}"/>
              </a:ext>
            </a:extLst>
          </p:cNvPr>
          <p:cNvSpPr>
            <a:spLocks noGrp="1"/>
          </p:cNvSpPr>
          <p:nvPr>
            <p:ph type="title"/>
          </p:nvPr>
        </p:nvSpPr>
        <p:spPr>
          <a:xfrm>
            <a:off x="609646" y="582898"/>
            <a:ext cx="7921382" cy="1618489"/>
          </a:xfrm>
        </p:spPr>
        <p:txBody>
          <a:bodyPr anchor="ctr">
            <a:normAutofit/>
          </a:bodyPr>
          <a:lstStyle/>
          <a:p>
            <a:pPr>
              <a:lnSpc>
                <a:spcPct val="90000"/>
              </a:lnSpc>
            </a:pPr>
            <a:r>
              <a:rPr lang="en-US" sz="5400" b="1" u="sng" dirty="0"/>
              <a:t>Health-care system capacity</a:t>
            </a:r>
          </a:p>
        </p:txBody>
      </p:sp>
      <p:sp>
        <p:nvSpPr>
          <p:cNvPr id="3" name="Content Placeholder 2">
            <a:extLst>
              <a:ext uri="{FF2B5EF4-FFF2-40B4-BE49-F238E27FC236}">
                <a16:creationId xmlns:a16="http://schemas.microsoft.com/office/drawing/2014/main" id="{FDAD0CD2-B29D-3C4A-A129-C91BE6F9AD01}"/>
              </a:ext>
            </a:extLst>
          </p:cNvPr>
          <p:cNvSpPr>
            <a:spLocks noGrp="1"/>
          </p:cNvSpPr>
          <p:nvPr>
            <p:ph idx="1"/>
          </p:nvPr>
        </p:nvSpPr>
        <p:spPr>
          <a:xfrm>
            <a:off x="609646" y="2201388"/>
            <a:ext cx="7921382" cy="1162032"/>
          </a:xfrm>
        </p:spPr>
        <p:txBody>
          <a:bodyPr anchor="t">
            <a:normAutofit fontScale="62500" lnSpcReduction="20000"/>
          </a:bodyPr>
          <a:lstStyle/>
          <a:p>
            <a:pPr algn="just">
              <a:lnSpc>
                <a:spcPct val="150000"/>
              </a:lnSpc>
            </a:pPr>
            <a:r>
              <a:rPr lang="en-US" sz="2100" dirty="0"/>
              <a:t>To obtain the number of rest/observation beds in emergency units, data from the CNES (</a:t>
            </a:r>
            <a:r>
              <a:rPr lang="en-US" sz="2100" dirty="0" err="1"/>
              <a:t>Cadastro</a:t>
            </a:r>
            <a:r>
              <a:rPr lang="en-US" sz="2100" dirty="0"/>
              <a:t> Nacional de </a:t>
            </a:r>
            <a:r>
              <a:rPr lang="en-US" sz="2100" dirty="0" err="1"/>
              <a:t>Estabelecimentos</a:t>
            </a:r>
            <a:r>
              <a:rPr lang="en-US" sz="2100" dirty="0"/>
              <a:t> de Saúde) available on basedosdados.org was accessed using a SQL query in </a:t>
            </a:r>
            <a:r>
              <a:rPr lang="en-US" sz="2100" dirty="0" err="1"/>
              <a:t>BigQuery</a:t>
            </a:r>
            <a:r>
              <a:rPr lang="en-US" sz="2100" dirty="0"/>
              <a:t> (Google Cloud) on the </a:t>
            </a:r>
            <a:r>
              <a:rPr lang="en-US" sz="2100" dirty="0" err="1"/>
              <a:t>basedosdados.br_ms_cnes.estabelecimento</a:t>
            </a:r>
            <a:r>
              <a:rPr lang="en-US" sz="2100" dirty="0"/>
              <a:t> table using the code.</a:t>
            </a:r>
          </a:p>
        </p:txBody>
      </p:sp>
      <p:sp>
        <p:nvSpPr>
          <p:cNvPr id="6" name="CaixaDeTexto 5">
            <a:extLst>
              <a:ext uri="{FF2B5EF4-FFF2-40B4-BE49-F238E27FC236}">
                <a16:creationId xmlns:a16="http://schemas.microsoft.com/office/drawing/2014/main" id="{F66369A6-66C8-4FDB-6BB3-21366A91E5E7}"/>
              </a:ext>
            </a:extLst>
          </p:cNvPr>
          <p:cNvSpPr txBox="1"/>
          <p:nvPr/>
        </p:nvSpPr>
        <p:spPr>
          <a:xfrm>
            <a:off x="538006" y="3166072"/>
            <a:ext cx="3509758" cy="1631216"/>
          </a:xfrm>
          <a:prstGeom prst="rect">
            <a:avLst/>
          </a:prstGeom>
          <a:noFill/>
        </p:spPr>
        <p:txBody>
          <a:bodyPr wrap="square">
            <a:spAutoFit/>
          </a:bodyPr>
          <a:lstStyle/>
          <a:p>
            <a:pPr algn="l">
              <a:buNone/>
            </a:pPr>
            <a:r>
              <a:rPr lang="en-US" sz="1000" b="1" i="0" dirty="0">
                <a:solidFill>
                  <a:srgbClr val="1A7F37"/>
                </a:solidFill>
                <a:effectLst/>
                <a:latin typeface="menlo"/>
              </a:rPr>
              <a:t>SELECT</a:t>
            </a:r>
            <a:endParaRPr lang="en-US" sz="1000" b="0" i="0" dirty="0">
              <a:effectLst/>
              <a:latin typeface="menlo"/>
            </a:endParaRPr>
          </a:p>
          <a:p>
            <a:pPr algn="l">
              <a:buNone/>
            </a:pPr>
            <a:r>
              <a:rPr lang="en-US" sz="1000" b="0" i="0" dirty="0">
                <a:solidFill>
                  <a:srgbClr val="212121"/>
                </a:solidFill>
                <a:effectLst/>
                <a:latin typeface="menlo"/>
              </a:rPr>
              <a:t>  </a:t>
            </a:r>
            <a:r>
              <a:rPr lang="en-US" sz="1000" b="1" i="0" dirty="0">
                <a:solidFill>
                  <a:srgbClr val="1A7F37"/>
                </a:solidFill>
                <a:effectLst/>
                <a:latin typeface="menlo"/>
              </a:rPr>
              <a:t>SUM</a:t>
            </a:r>
            <a:r>
              <a:rPr lang="en-US" sz="1000" b="0" i="0" dirty="0">
                <a:solidFill>
                  <a:srgbClr val="0055AA"/>
                </a:solidFill>
                <a:effectLst/>
                <a:latin typeface="menlo"/>
              </a:rPr>
              <a:t>(</a:t>
            </a:r>
            <a:endParaRPr lang="en-US" sz="1000" b="0" i="0" dirty="0">
              <a:effectLst/>
              <a:latin typeface="menlo"/>
            </a:endParaRPr>
          </a:p>
          <a:p>
            <a:pPr algn="l">
              <a:buNone/>
            </a:pPr>
            <a:r>
              <a:rPr lang="en-US" sz="1000" b="0" i="0" dirty="0">
                <a:solidFill>
                  <a:srgbClr val="212121"/>
                </a:solidFill>
                <a:effectLst/>
                <a:latin typeface="menlo"/>
              </a:rPr>
              <a:t>    </a:t>
            </a:r>
            <a:r>
              <a:rPr lang="en-US" sz="1000" b="0" i="0" dirty="0" err="1">
                <a:effectLst/>
                <a:latin typeface="menlo"/>
              </a:rPr>
              <a:t>dados</a:t>
            </a:r>
            <a:r>
              <a:rPr lang="en-US" sz="1000" b="0" i="0" dirty="0" err="1">
                <a:solidFill>
                  <a:srgbClr val="0055AA"/>
                </a:solidFill>
                <a:effectLst/>
                <a:latin typeface="menlo"/>
              </a:rPr>
              <a:t>.</a:t>
            </a:r>
            <a:r>
              <a:rPr lang="en-US" sz="1000" b="0" i="0" dirty="0" err="1">
                <a:effectLst/>
                <a:latin typeface="menlo"/>
              </a:rPr>
              <a:t>quantidade_leito_repouso_feminino_urgencia</a:t>
            </a:r>
            <a:r>
              <a:rPr lang="en-US" sz="1000" b="0" i="0" dirty="0">
                <a:solidFill>
                  <a:srgbClr val="212121"/>
                </a:solidFill>
                <a:effectLst/>
                <a:latin typeface="menlo"/>
              </a:rPr>
              <a:t> </a:t>
            </a:r>
            <a:r>
              <a:rPr lang="en-US" sz="1000" b="1" i="0" dirty="0">
                <a:solidFill>
                  <a:srgbClr val="8250DF"/>
                </a:solidFill>
                <a:effectLst/>
                <a:latin typeface="menlo"/>
              </a:rPr>
              <a:t>+</a:t>
            </a:r>
            <a:endParaRPr lang="en-US" sz="1000" b="0" i="0" dirty="0">
              <a:effectLst/>
              <a:latin typeface="menlo"/>
            </a:endParaRPr>
          </a:p>
          <a:p>
            <a:pPr algn="l">
              <a:buNone/>
            </a:pPr>
            <a:r>
              <a:rPr lang="en-US" sz="1000" b="0" i="0" dirty="0">
                <a:solidFill>
                  <a:srgbClr val="212121"/>
                </a:solidFill>
                <a:effectLst/>
                <a:latin typeface="menlo"/>
              </a:rPr>
              <a:t>    </a:t>
            </a:r>
            <a:r>
              <a:rPr lang="en-US" sz="1000" b="0" i="0" dirty="0" err="1">
                <a:effectLst/>
                <a:latin typeface="menlo"/>
              </a:rPr>
              <a:t>dados</a:t>
            </a:r>
            <a:r>
              <a:rPr lang="en-US" sz="1000" b="0" i="0" dirty="0" err="1">
                <a:solidFill>
                  <a:srgbClr val="0055AA"/>
                </a:solidFill>
                <a:effectLst/>
                <a:latin typeface="menlo"/>
              </a:rPr>
              <a:t>.</a:t>
            </a:r>
            <a:r>
              <a:rPr lang="en-US" sz="1000" b="0" i="0" dirty="0" err="1">
                <a:effectLst/>
                <a:latin typeface="menlo"/>
              </a:rPr>
              <a:t>quantidade_leito_repouso_masculino_urgencia</a:t>
            </a:r>
            <a:r>
              <a:rPr lang="en-US" sz="1000" b="0" i="0" dirty="0">
                <a:solidFill>
                  <a:srgbClr val="212121"/>
                </a:solidFill>
                <a:effectLst/>
                <a:latin typeface="menlo"/>
              </a:rPr>
              <a:t> </a:t>
            </a:r>
            <a:r>
              <a:rPr lang="en-US" sz="1000" b="1" i="0" dirty="0">
                <a:solidFill>
                  <a:srgbClr val="8250DF"/>
                </a:solidFill>
                <a:effectLst/>
                <a:latin typeface="menlo"/>
              </a:rPr>
              <a:t>+</a:t>
            </a:r>
            <a:endParaRPr lang="en-US" sz="1000" b="0" i="0" dirty="0">
              <a:effectLst/>
              <a:latin typeface="menlo"/>
            </a:endParaRPr>
          </a:p>
          <a:p>
            <a:pPr algn="l">
              <a:buNone/>
            </a:pPr>
            <a:r>
              <a:rPr lang="en-US" sz="1000" b="0" i="0" dirty="0">
                <a:solidFill>
                  <a:srgbClr val="212121"/>
                </a:solidFill>
                <a:effectLst/>
                <a:latin typeface="menlo"/>
              </a:rPr>
              <a:t>    </a:t>
            </a:r>
            <a:r>
              <a:rPr lang="en-US" sz="1000" b="0" i="0" dirty="0" err="1">
                <a:effectLst/>
                <a:latin typeface="menlo"/>
              </a:rPr>
              <a:t>dados</a:t>
            </a:r>
            <a:r>
              <a:rPr lang="en-US" sz="1000" b="0" i="0" dirty="0" err="1">
                <a:solidFill>
                  <a:srgbClr val="0055AA"/>
                </a:solidFill>
                <a:effectLst/>
                <a:latin typeface="menlo"/>
              </a:rPr>
              <a:t>.</a:t>
            </a:r>
            <a:r>
              <a:rPr lang="en-US" sz="1000" b="0" i="0" dirty="0" err="1">
                <a:effectLst/>
                <a:latin typeface="menlo"/>
              </a:rPr>
              <a:t>quantidade_leito_repouso_indiferenciado_urgencia</a:t>
            </a:r>
            <a:r>
              <a:rPr lang="en-US" sz="1000" b="0" i="0" dirty="0">
                <a:solidFill>
                  <a:srgbClr val="212121"/>
                </a:solidFill>
                <a:effectLst/>
                <a:latin typeface="menlo"/>
              </a:rPr>
              <a:t> </a:t>
            </a:r>
            <a:r>
              <a:rPr lang="en-US" sz="1000" b="1" i="0" dirty="0">
                <a:solidFill>
                  <a:srgbClr val="8250DF"/>
                </a:solidFill>
                <a:effectLst/>
                <a:latin typeface="menlo"/>
              </a:rPr>
              <a:t>+</a:t>
            </a:r>
            <a:endParaRPr lang="en-US" sz="1000" b="0" i="0" dirty="0">
              <a:effectLst/>
              <a:latin typeface="menlo"/>
            </a:endParaRPr>
          </a:p>
          <a:p>
            <a:pPr algn="l">
              <a:buNone/>
            </a:pPr>
            <a:r>
              <a:rPr lang="en-US" sz="1000" b="0" i="0" dirty="0">
                <a:solidFill>
                  <a:srgbClr val="212121"/>
                </a:solidFill>
                <a:effectLst/>
                <a:latin typeface="menlo"/>
              </a:rPr>
              <a:t>  </a:t>
            </a:r>
            <a:r>
              <a:rPr lang="en-US" sz="1000" b="0" i="0" dirty="0">
                <a:solidFill>
                  <a:srgbClr val="0055AA"/>
                </a:solidFill>
                <a:effectLst/>
                <a:latin typeface="menlo"/>
              </a:rPr>
              <a:t>)</a:t>
            </a:r>
            <a:r>
              <a:rPr lang="en-US" sz="1000" b="0" i="0" dirty="0">
                <a:solidFill>
                  <a:srgbClr val="212121"/>
                </a:solidFill>
                <a:effectLst/>
                <a:latin typeface="menlo"/>
              </a:rPr>
              <a:t> </a:t>
            </a:r>
            <a:r>
              <a:rPr lang="en-US" sz="1000" b="1" i="0" dirty="0">
                <a:solidFill>
                  <a:srgbClr val="1A7F37"/>
                </a:solidFill>
                <a:effectLst/>
                <a:latin typeface="menlo"/>
              </a:rPr>
              <a:t>AS</a:t>
            </a:r>
            <a:r>
              <a:rPr lang="en-US" sz="1000" b="0" i="0" dirty="0">
                <a:solidFill>
                  <a:srgbClr val="212121"/>
                </a:solidFill>
                <a:effectLst/>
                <a:latin typeface="menlo"/>
              </a:rPr>
              <a:t> </a:t>
            </a:r>
            <a:r>
              <a:rPr lang="en-US" sz="1000" b="0" i="0" dirty="0" err="1">
                <a:effectLst/>
                <a:latin typeface="menlo"/>
              </a:rPr>
              <a:t>soma_total_leitos</a:t>
            </a:r>
            <a:endParaRPr lang="en-US" sz="1000" b="0" i="0" dirty="0">
              <a:effectLst/>
              <a:latin typeface="menlo"/>
            </a:endParaRPr>
          </a:p>
          <a:p>
            <a:pPr algn="l">
              <a:buNone/>
            </a:pPr>
            <a:r>
              <a:rPr lang="en-US" sz="1000" b="1" i="0" dirty="0">
                <a:solidFill>
                  <a:srgbClr val="1A7F37"/>
                </a:solidFill>
                <a:effectLst/>
                <a:latin typeface="menlo"/>
              </a:rPr>
              <a:t>FROM</a:t>
            </a:r>
            <a:endParaRPr lang="en-US" sz="1000" b="0" i="0" dirty="0">
              <a:effectLst/>
              <a:latin typeface="menlo"/>
            </a:endParaRPr>
          </a:p>
          <a:p>
            <a:pPr algn="l">
              <a:buNone/>
            </a:pPr>
            <a:r>
              <a:rPr lang="en-US" sz="1000" b="0" i="0" dirty="0">
                <a:solidFill>
                  <a:srgbClr val="212121"/>
                </a:solidFill>
                <a:effectLst/>
                <a:latin typeface="menlo"/>
              </a:rPr>
              <a:t>    </a:t>
            </a:r>
            <a:r>
              <a:rPr lang="en-US" sz="1000" b="1" i="0" dirty="0">
                <a:solidFill>
                  <a:srgbClr val="8250DF"/>
                </a:solidFill>
                <a:effectLst/>
                <a:latin typeface="menlo"/>
              </a:rPr>
              <a:t>`</a:t>
            </a:r>
            <a:r>
              <a:rPr lang="en-US" sz="1000" b="0" i="0" dirty="0" err="1">
                <a:effectLst/>
                <a:latin typeface="menlo"/>
              </a:rPr>
              <a:t>basedosdados</a:t>
            </a:r>
            <a:r>
              <a:rPr lang="en-US" sz="1000" b="0" i="0" dirty="0" err="1">
                <a:solidFill>
                  <a:srgbClr val="0055AA"/>
                </a:solidFill>
                <a:effectLst/>
                <a:latin typeface="menlo"/>
              </a:rPr>
              <a:t>.</a:t>
            </a:r>
            <a:r>
              <a:rPr lang="en-US" sz="1000" b="0" i="0" dirty="0" err="1">
                <a:effectLst/>
                <a:latin typeface="menlo"/>
              </a:rPr>
              <a:t>br_ms_cnes</a:t>
            </a:r>
            <a:r>
              <a:rPr lang="en-US" sz="1000" b="0" i="0" dirty="0" err="1">
                <a:solidFill>
                  <a:srgbClr val="0055AA"/>
                </a:solidFill>
                <a:effectLst/>
                <a:latin typeface="menlo"/>
              </a:rPr>
              <a:t>.</a:t>
            </a:r>
            <a:r>
              <a:rPr lang="en-US" sz="1000" b="0" i="0" dirty="0" err="1">
                <a:effectLst/>
                <a:latin typeface="menlo"/>
              </a:rPr>
              <a:t>estabelecimento</a:t>
            </a:r>
            <a:r>
              <a:rPr lang="en-US" sz="1000" b="1" i="0" dirty="0">
                <a:solidFill>
                  <a:srgbClr val="8250DF"/>
                </a:solidFill>
                <a:effectLst/>
                <a:latin typeface="menlo"/>
              </a:rPr>
              <a:t>`</a:t>
            </a:r>
            <a:r>
              <a:rPr lang="en-US" sz="1000" b="0" i="0" dirty="0">
                <a:solidFill>
                  <a:srgbClr val="212121"/>
                </a:solidFill>
                <a:effectLst/>
                <a:latin typeface="menlo"/>
              </a:rPr>
              <a:t> </a:t>
            </a:r>
            <a:r>
              <a:rPr lang="en-US" sz="1000" b="1" i="0" dirty="0">
                <a:solidFill>
                  <a:srgbClr val="1A7F37"/>
                </a:solidFill>
                <a:effectLst/>
                <a:latin typeface="menlo"/>
              </a:rPr>
              <a:t>AS</a:t>
            </a:r>
            <a:r>
              <a:rPr lang="en-US" sz="1000" b="0" i="0" dirty="0">
                <a:solidFill>
                  <a:srgbClr val="212121"/>
                </a:solidFill>
                <a:effectLst/>
                <a:latin typeface="menlo"/>
              </a:rPr>
              <a:t> </a:t>
            </a:r>
            <a:r>
              <a:rPr lang="en-US" sz="1000" b="0" i="0" dirty="0">
                <a:effectLst/>
                <a:latin typeface="menlo"/>
              </a:rPr>
              <a:t>dados</a:t>
            </a:r>
          </a:p>
          <a:p>
            <a:pPr algn="l">
              <a:buNone/>
            </a:pPr>
            <a:r>
              <a:rPr lang="en-US" sz="1000" b="1" i="0" dirty="0">
                <a:solidFill>
                  <a:srgbClr val="1A7F37"/>
                </a:solidFill>
                <a:effectLst/>
                <a:latin typeface="menlo"/>
              </a:rPr>
              <a:t>WHERE</a:t>
            </a:r>
            <a:r>
              <a:rPr lang="en-US" sz="1000" b="0" i="0" dirty="0">
                <a:solidFill>
                  <a:srgbClr val="212121"/>
                </a:solidFill>
                <a:effectLst/>
                <a:latin typeface="menlo"/>
              </a:rPr>
              <a:t> </a:t>
            </a:r>
            <a:r>
              <a:rPr lang="en-US" sz="1000" b="0" i="0" dirty="0" err="1">
                <a:effectLst/>
                <a:latin typeface="menlo"/>
              </a:rPr>
              <a:t>dados</a:t>
            </a:r>
            <a:r>
              <a:rPr lang="en-US" sz="1000" b="0" i="0" dirty="0" err="1">
                <a:solidFill>
                  <a:srgbClr val="0055AA"/>
                </a:solidFill>
                <a:effectLst/>
                <a:latin typeface="menlo"/>
              </a:rPr>
              <a:t>.</a:t>
            </a:r>
            <a:r>
              <a:rPr lang="en-US" sz="1000" b="0" i="0" dirty="0" err="1">
                <a:effectLst/>
                <a:latin typeface="menlo"/>
              </a:rPr>
              <a:t>sigla_uf</a:t>
            </a:r>
            <a:r>
              <a:rPr lang="en-US" sz="1000" b="0" i="0" dirty="0">
                <a:solidFill>
                  <a:srgbClr val="212121"/>
                </a:solidFill>
                <a:effectLst/>
                <a:latin typeface="menlo"/>
              </a:rPr>
              <a:t> </a:t>
            </a:r>
            <a:r>
              <a:rPr lang="en-US" sz="1000" b="1" i="0" dirty="0">
                <a:solidFill>
                  <a:srgbClr val="8250DF"/>
                </a:solidFill>
                <a:effectLst/>
                <a:latin typeface="menlo"/>
              </a:rPr>
              <a:t>=</a:t>
            </a:r>
            <a:r>
              <a:rPr lang="en-US" sz="1000" b="0" i="0" dirty="0">
                <a:solidFill>
                  <a:srgbClr val="212121"/>
                </a:solidFill>
                <a:effectLst/>
                <a:latin typeface="menlo"/>
              </a:rPr>
              <a:t> </a:t>
            </a:r>
            <a:r>
              <a:rPr lang="en-US" sz="1000" b="0" i="0" dirty="0">
                <a:solidFill>
                  <a:srgbClr val="BA2121"/>
                </a:solidFill>
                <a:effectLst/>
                <a:latin typeface="menlo"/>
              </a:rPr>
              <a:t>'SP'</a:t>
            </a:r>
            <a:endParaRPr lang="en-US" sz="1000" b="0" i="0" dirty="0">
              <a:effectLst/>
              <a:latin typeface="menlo"/>
            </a:endParaRPr>
          </a:p>
          <a:p>
            <a:pPr algn="l">
              <a:buNone/>
            </a:pPr>
            <a:r>
              <a:rPr lang="en-US" sz="1000" b="0" i="0" dirty="0">
                <a:solidFill>
                  <a:srgbClr val="212121"/>
                </a:solidFill>
                <a:effectLst/>
                <a:latin typeface="menlo"/>
              </a:rPr>
              <a:t>    </a:t>
            </a:r>
            <a:r>
              <a:rPr lang="en-US" sz="1000" b="1" i="0" dirty="0">
                <a:solidFill>
                  <a:srgbClr val="1A7F37"/>
                </a:solidFill>
                <a:effectLst/>
                <a:latin typeface="menlo"/>
              </a:rPr>
              <a:t>AND</a:t>
            </a:r>
            <a:r>
              <a:rPr lang="en-US" sz="1000" b="0" i="0" dirty="0">
                <a:solidFill>
                  <a:srgbClr val="212121"/>
                </a:solidFill>
                <a:effectLst/>
                <a:latin typeface="menlo"/>
              </a:rPr>
              <a:t> </a:t>
            </a:r>
            <a:r>
              <a:rPr lang="en-US" sz="1000" b="0" i="0" dirty="0" err="1">
                <a:effectLst/>
                <a:latin typeface="menlo"/>
              </a:rPr>
              <a:t>dados</a:t>
            </a:r>
            <a:r>
              <a:rPr lang="en-US" sz="1000" b="0" i="0" dirty="0" err="1">
                <a:solidFill>
                  <a:srgbClr val="0055AA"/>
                </a:solidFill>
                <a:effectLst/>
                <a:latin typeface="menlo"/>
              </a:rPr>
              <a:t>.</a:t>
            </a:r>
            <a:r>
              <a:rPr lang="en-US" sz="1000" b="0" i="0" dirty="0" err="1">
                <a:effectLst/>
                <a:latin typeface="menlo"/>
              </a:rPr>
              <a:t>ano</a:t>
            </a:r>
            <a:r>
              <a:rPr lang="en-US" sz="1000" b="0" i="0" dirty="0">
                <a:solidFill>
                  <a:srgbClr val="212121"/>
                </a:solidFill>
                <a:effectLst/>
                <a:latin typeface="menlo"/>
              </a:rPr>
              <a:t> </a:t>
            </a:r>
            <a:r>
              <a:rPr lang="en-US" sz="1000" b="1" i="0" dirty="0">
                <a:solidFill>
                  <a:srgbClr val="8250DF"/>
                </a:solidFill>
                <a:effectLst/>
                <a:latin typeface="menlo"/>
              </a:rPr>
              <a:t>=</a:t>
            </a:r>
            <a:r>
              <a:rPr lang="en-US" sz="1000" b="0" i="0" dirty="0">
                <a:solidFill>
                  <a:srgbClr val="212121"/>
                </a:solidFill>
                <a:effectLst/>
                <a:latin typeface="menlo"/>
              </a:rPr>
              <a:t> </a:t>
            </a:r>
            <a:r>
              <a:rPr lang="en-US" sz="1000" b="0" i="0" dirty="0">
                <a:solidFill>
                  <a:srgbClr val="BA2121"/>
                </a:solidFill>
                <a:effectLst/>
                <a:latin typeface="menlo"/>
              </a:rPr>
              <a:t>'2020'</a:t>
            </a:r>
            <a:endParaRPr lang="en-US" sz="1000" b="0" i="0" dirty="0">
              <a:effectLst/>
              <a:latin typeface="menlo"/>
            </a:endParaRPr>
          </a:p>
        </p:txBody>
      </p:sp>
      <p:pic>
        <p:nvPicPr>
          <p:cNvPr id="9" name="Imagem 8">
            <a:extLst>
              <a:ext uri="{FF2B5EF4-FFF2-40B4-BE49-F238E27FC236}">
                <a16:creationId xmlns:a16="http://schemas.microsoft.com/office/drawing/2014/main" id="{1A882C8E-35D2-D21E-4A29-AA6503C02FBB}"/>
              </a:ext>
            </a:extLst>
          </p:cNvPr>
          <p:cNvPicPr>
            <a:picLocks noChangeAspect="1"/>
          </p:cNvPicPr>
          <p:nvPr/>
        </p:nvPicPr>
        <p:blipFill>
          <a:blip r:embed="rId2"/>
          <a:stretch>
            <a:fillRect/>
          </a:stretch>
        </p:blipFill>
        <p:spPr>
          <a:xfrm>
            <a:off x="4104440" y="3986696"/>
            <a:ext cx="4448104" cy="2143430"/>
          </a:xfrm>
          <a:prstGeom prst="rect">
            <a:avLst/>
          </a:prstGeom>
          <a:ln w="28575">
            <a:solidFill>
              <a:srgbClr val="FF0000"/>
            </a:solidFill>
            <a:prstDash val="sysDash"/>
          </a:ln>
        </p:spPr>
      </p:pic>
      <p:cxnSp>
        <p:nvCxnSpPr>
          <p:cNvPr id="13" name="Conector reto 12">
            <a:extLst>
              <a:ext uri="{FF2B5EF4-FFF2-40B4-BE49-F238E27FC236}">
                <a16:creationId xmlns:a16="http://schemas.microsoft.com/office/drawing/2014/main" id="{4E38E4E7-7131-2786-DB7A-BF5AFBDE62F2}"/>
              </a:ext>
            </a:extLst>
          </p:cNvPr>
          <p:cNvCxnSpPr>
            <a:cxnSpLocks/>
          </p:cNvCxnSpPr>
          <p:nvPr/>
        </p:nvCxnSpPr>
        <p:spPr>
          <a:xfrm>
            <a:off x="672415" y="4744184"/>
            <a:ext cx="3375349" cy="1385942"/>
          </a:xfrm>
          <a:prstGeom prst="line">
            <a:avLst/>
          </a:prstGeom>
          <a:ln w="28575">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17" name="Conector reto 16">
            <a:extLst>
              <a:ext uri="{FF2B5EF4-FFF2-40B4-BE49-F238E27FC236}">
                <a16:creationId xmlns:a16="http://schemas.microsoft.com/office/drawing/2014/main" id="{CCF8FCB5-D6B8-1D87-579C-CFC3E0795A59}"/>
              </a:ext>
            </a:extLst>
          </p:cNvPr>
          <p:cNvCxnSpPr>
            <a:cxnSpLocks/>
          </p:cNvCxnSpPr>
          <p:nvPr/>
        </p:nvCxnSpPr>
        <p:spPr>
          <a:xfrm>
            <a:off x="993239" y="3153093"/>
            <a:ext cx="7537789" cy="828587"/>
          </a:xfrm>
          <a:prstGeom prst="line">
            <a:avLst/>
          </a:prstGeom>
          <a:ln w="28575">
            <a:solidFill>
              <a:srgbClr val="FF0000"/>
            </a:solidFill>
            <a:prstDash val="sysDash"/>
          </a:ln>
        </p:spPr>
        <p:style>
          <a:lnRef idx="2">
            <a:schemeClr val="accent1"/>
          </a:lnRef>
          <a:fillRef idx="0">
            <a:schemeClr val="accent1"/>
          </a:fillRef>
          <a:effectRef idx="1">
            <a:schemeClr val="accent1"/>
          </a:effectRef>
          <a:fontRef idx="minor">
            <a:schemeClr val="tx1"/>
          </a:fontRef>
        </p:style>
      </p:cxnSp>
      <p:sp>
        <p:nvSpPr>
          <p:cNvPr id="22" name="Retângulo 21">
            <a:extLst>
              <a:ext uri="{FF2B5EF4-FFF2-40B4-BE49-F238E27FC236}">
                <a16:creationId xmlns:a16="http://schemas.microsoft.com/office/drawing/2014/main" id="{74E43BD7-B6B4-1AB2-2B1C-454005DE8B21}"/>
              </a:ext>
            </a:extLst>
          </p:cNvPr>
          <p:cNvSpPr/>
          <p:nvPr/>
        </p:nvSpPr>
        <p:spPr>
          <a:xfrm>
            <a:off x="5112544" y="5626249"/>
            <a:ext cx="633412" cy="290457"/>
          </a:xfrm>
          <a:prstGeom prst="rect">
            <a:avLst/>
          </a:prstGeom>
          <a:noFill/>
          <a:ln w="28575">
            <a:solidFill>
              <a:srgbClr val="FF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3" name="CaixaDeTexto 22">
            <a:extLst>
              <a:ext uri="{FF2B5EF4-FFF2-40B4-BE49-F238E27FC236}">
                <a16:creationId xmlns:a16="http://schemas.microsoft.com/office/drawing/2014/main" id="{4C412686-1EFF-8A8B-4F56-BA5F8092C6D6}"/>
              </a:ext>
            </a:extLst>
          </p:cNvPr>
          <p:cNvSpPr txBox="1"/>
          <p:nvPr/>
        </p:nvSpPr>
        <p:spPr>
          <a:xfrm>
            <a:off x="5895854" y="5587155"/>
            <a:ext cx="1393330" cy="369332"/>
          </a:xfrm>
          <a:prstGeom prst="rect">
            <a:avLst/>
          </a:prstGeom>
          <a:noFill/>
        </p:spPr>
        <p:txBody>
          <a:bodyPr wrap="none" rtlCol="0">
            <a:spAutoFit/>
          </a:bodyPr>
          <a:lstStyle/>
          <a:p>
            <a:r>
              <a:rPr lang="pt-BR" b="1" u="sng" dirty="0">
                <a:solidFill>
                  <a:srgbClr val="FF0000"/>
                </a:solidFill>
              </a:rPr>
              <a:t>121896 </a:t>
            </a:r>
            <a:r>
              <a:rPr lang="pt-BR" b="1" u="sng" dirty="0" err="1">
                <a:solidFill>
                  <a:srgbClr val="FF0000"/>
                </a:solidFill>
              </a:rPr>
              <a:t>beds</a:t>
            </a:r>
            <a:endParaRPr lang="pt-BR" b="1" u="sng" dirty="0">
              <a:solidFill>
                <a:srgbClr val="FF0000"/>
              </a:solidFill>
            </a:endParaRPr>
          </a:p>
        </p:txBody>
      </p:sp>
      <p:cxnSp>
        <p:nvCxnSpPr>
          <p:cNvPr id="25" name="Conector de Seta Reta 24">
            <a:extLst>
              <a:ext uri="{FF2B5EF4-FFF2-40B4-BE49-F238E27FC236}">
                <a16:creationId xmlns:a16="http://schemas.microsoft.com/office/drawing/2014/main" id="{2C277EDB-5C5A-6864-9F11-7FC554E61AC2}"/>
              </a:ext>
            </a:extLst>
          </p:cNvPr>
          <p:cNvCxnSpPr>
            <a:stCxn id="22" idx="3"/>
          </p:cNvCxnSpPr>
          <p:nvPr/>
        </p:nvCxnSpPr>
        <p:spPr>
          <a:xfrm flipV="1">
            <a:off x="5745956" y="5771477"/>
            <a:ext cx="245269" cy="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8827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F7BAC7-8B86-EA4E-8F23-E829787FE30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081254D-E5D6-A0A7-491E-6E2C307B32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4E3A43FA-22CF-0880-8949-444D983753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7B8115D-1C72-0E9B-1535-20BF4F59BE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A45EC0-BCE2-D74B-6EA5-11397D1F8DD7}"/>
              </a:ext>
            </a:extLst>
          </p:cNvPr>
          <p:cNvSpPr>
            <a:spLocks noGrp="1"/>
          </p:cNvSpPr>
          <p:nvPr>
            <p:ph type="title"/>
          </p:nvPr>
        </p:nvSpPr>
        <p:spPr>
          <a:xfrm>
            <a:off x="481330" y="270925"/>
            <a:ext cx="8178790" cy="1618489"/>
          </a:xfrm>
        </p:spPr>
        <p:txBody>
          <a:bodyPr anchor="ctr">
            <a:normAutofit/>
          </a:bodyPr>
          <a:lstStyle/>
          <a:p>
            <a:pPr>
              <a:lnSpc>
                <a:spcPct val="90000"/>
              </a:lnSpc>
            </a:pPr>
            <a:r>
              <a:rPr lang="en-US" sz="5400" b="1" u="sng" dirty="0"/>
              <a:t>Numerical Implementation</a:t>
            </a:r>
          </a:p>
        </p:txBody>
      </p:sp>
      <p:sp>
        <p:nvSpPr>
          <p:cNvPr id="3" name="Content Placeholder 2">
            <a:extLst>
              <a:ext uri="{FF2B5EF4-FFF2-40B4-BE49-F238E27FC236}">
                <a16:creationId xmlns:a16="http://schemas.microsoft.com/office/drawing/2014/main" id="{7B5FA2E7-4DB1-CBD8-FCCA-A091353E92BA}"/>
              </a:ext>
            </a:extLst>
          </p:cNvPr>
          <p:cNvSpPr>
            <a:spLocks noGrp="1"/>
          </p:cNvSpPr>
          <p:nvPr>
            <p:ph idx="1"/>
          </p:nvPr>
        </p:nvSpPr>
        <p:spPr>
          <a:xfrm>
            <a:off x="963930" y="1516828"/>
            <a:ext cx="7545369" cy="4561243"/>
          </a:xfrm>
        </p:spPr>
        <p:txBody>
          <a:bodyPr anchor="t">
            <a:normAutofit fontScale="92500" lnSpcReduction="20000"/>
          </a:bodyPr>
          <a:lstStyle/>
          <a:p>
            <a:pPr>
              <a:lnSpc>
                <a:spcPct val="150000"/>
              </a:lnSpc>
            </a:pPr>
            <a:r>
              <a:rPr lang="en-US" sz="2800" b="1" dirty="0"/>
              <a:t>Python</a:t>
            </a:r>
            <a:r>
              <a:rPr lang="en-US" sz="2100" b="1" dirty="0"/>
              <a:t>.</a:t>
            </a:r>
          </a:p>
          <a:p>
            <a:pPr lvl="1">
              <a:lnSpc>
                <a:spcPct val="150000"/>
              </a:lnSpc>
            </a:pPr>
            <a:r>
              <a:rPr lang="en-US" sz="1700" i="1" dirty="0"/>
              <a:t>NumPy</a:t>
            </a:r>
            <a:r>
              <a:rPr lang="en-US" sz="1700" dirty="0"/>
              <a:t> for numerical computations and;</a:t>
            </a:r>
          </a:p>
          <a:p>
            <a:pPr lvl="1">
              <a:lnSpc>
                <a:spcPct val="150000"/>
              </a:lnSpc>
            </a:pPr>
            <a:r>
              <a:rPr lang="en-US" sz="1700" i="1" dirty="0"/>
              <a:t>Matplotlib</a:t>
            </a:r>
            <a:r>
              <a:rPr lang="en-US" sz="1700" dirty="0"/>
              <a:t> for visualization.</a:t>
            </a:r>
          </a:p>
          <a:p>
            <a:pPr>
              <a:lnSpc>
                <a:spcPct val="150000"/>
              </a:lnSpc>
            </a:pPr>
            <a:r>
              <a:rPr lang="en-US" sz="2600" b="1" dirty="0"/>
              <a:t>The model was run for a total of 400 days:</a:t>
            </a:r>
          </a:p>
          <a:p>
            <a:pPr>
              <a:lnSpc>
                <a:spcPct val="150000"/>
              </a:lnSpc>
            </a:pPr>
            <a:r>
              <a:rPr lang="en-US" sz="2600" b="1" dirty="0"/>
              <a:t>Initial conditions was set up as follows:</a:t>
            </a:r>
          </a:p>
          <a:p>
            <a:pPr lvl="1">
              <a:lnSpc>
                <a:spcPct val="150000"/>
              </a:lnSpc>
            </a:pPr>
            <a:r>
              <a:rPr lang="en-US" sz="1700" dirty="0"/>
              <a:t>number of susceptible (i.e., zero individuals),</a:t>
            </a:r>
          </a:p>
          <a:p>
            <a:pPr lvl="1">
              <a:lnSpc>
                <a:spcPct val="150000"/>
              </a:lnSpc>
            </a:pPr>
            <a:r>
              <a:rPr lang="en-US" sz="1700" dirty="0"/>
              <a:t>number of exposed (i.e., N - 1 individuals),</a:t>
            </a:r>
          </a:p>
          <a:p>
            <a:pPr lvl="1">
              <a:lnSpc>
                <a:spcPct val="150000"/>
              </a:lnSpc>
            </a:pPr>
            <a:r>
              <a:rPr lang="en-US" sz="1700" dirty="0"/>
              <a:t>number of infectious (i.e., zero individuals), and </a:t>
            </a:r>
          </a:p>
          <a:p>
            <a:pPr lvl="1">
              <a:lnSpc>
                <a:spcPct val="150000"/>
              </a:lnSpc>
            </a:pPr>
            <a:r>
              <a:rPr lang="en-US" sz="1700" dirty="0"/>
              <a:t>number of recovered individuals (i.e., zero individuals)</a:t>
            </a:r>
            <a:endParaRPr lang="en-US" sz="2100" dirty="0"/>
          </a:p>
          <a:p>
            <a:pPr>
              <a:lnSpc>
                <a:spcPct val="150000"/>
              </a:lnSpc>
            </a:pPr>
            <a:r>
              <a:rPr lang="en-US" sz="2800" b="1" dirty="0"/>
              <a:t>Time step of 1 day. </a:t>
            </a:r>
          </a:p>
        </p:txBody>
      </p:sp>
      <p:pic>
        <p:nvPicPr>
          <p:cNvPr id="4" name="Imagem 3">
            <a:extLst>
              <a:ext uri="{FF2B5EF4-FFF2-40B4-BE49-F238E27FC236}">
                <a16:creationId xmlns:a16="http://schemas.microsoft.com/office/drawing/2014/main" id="{1531EC7A-5353-3607-FA9A-CEE9FE1501F4}"/>
              </a:ext>
            </a:extLst>
          </p:cNvPr>
          <p:cNvPicPr>
            <a:picLocks noChangeAspect="1"/>
          </p:cNvPicPr>
          <p:nvPr/>
        </p:nvPicPr>
        <p:blipFill>
          <a:blip r:embed="rId2"/>
          <a:stretch>
            <a:fillRect/>
          </a:stretch>
        </p:blipFill>
        <p:spPr>
          <a:xfrm>
            <a:off x="6526959" y="1453062"/>
            <a:ext cx="1848613" cy="1845725"/>
          </a:xfrm>
          <a:prstGeom prst="rect">
            <a:avLst/>
          </a:prstGeom>
        </p:spPr>
      </p:pic>
    </p:spTree>
    <p:extLst>
      <p:ext uri="{BB962C8B-B14F-4D97-AF65-F5344CB8AC3E}">
        <p14:creationId xmlns:p14="http://schemas.microsoft.com/office/powerpoint/2010/main" val="2919361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69CA98-8E0D-DF6D-19A0-921D06E78C0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C47232-B3AB-EDC8-2F5D-B556A5BAF3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4A7BD264-CBD9-C360-C0EF-CEA70EB9CC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97B611C-FD8B-0345-B5E2-69221E7508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549953-BA60-64A0-6AA5-8BA68B366F44}"/>
              </a:ext>
            </a:extLst>
          </p:cNvPr>
          <p:cNvSpPr>
            <a:spLocks noGrp="1"/>
          </p:cNvSpPr>
          <p:nvPr>
            <p:ph type="title"/>
          </p:nvPr>
        </p:nvSpPr>
        <p:spPr>
          <a:xfrm>
            <a:off x="481330" y="318550"/>
            <a:ext cx="8178790" cy="1618489"/>
          </a:xfrm>
        </p:spPr>
        <p:txBody>
          <a:bodyPr anchor="ctr">
            <a:normAutofit/>
          </a:bodyPr>
          <a:lstStyle/>
          <a:p>
            <a:pPr>
              <a:lnSpc>
                <a:spcPct val="90000"/>
              </a:lnSpc>
            </a:pPr>
            <a:r>
              <a:rPr lang="en-US" sz="5400" b="1" u="sng" dirty="0"/>
              <a:t>Results I – SEIR Trajectories</a:t>
            </a:r>
          </a:p>
        </p:txBody>
      </p:sp>
      <p:pic>
        <p:nvPicPr>
          <p:cNvPr id="4" name="Imagem 3">
            <a:extLst>
              <a:ext uri="{FF2B5EF4-FFF2-40B4-BE49-F238E27FC236}">
                <a16:creationId xmlns:a16="http://schemas.microsoft.com/office/drawing/2014/main" id="{ADDDB549-FA8D-44C1-3015-F5ED3BCE9C7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rcRect r="9100"/>
          <a:stretch>
            <a:fillRect/>
          </a:stretch>
        </p:blipFill>
        <p:spPr>
          <a:xfrm>
            <a:off x="528013" y="1520654"/>
            <a:ext cx="3882062" cy="4616508"/>
          </a:xfrm>
          <a:prstGeom prst="rect">
            <a:avLst/>
          </a:prstGeom>
        </p:spPr>
      </p:pic>
      <p:pic>
        <p:nvPicPr>
          <p:cNvPr id="6" name="Imagem 5">
            <a:extLst>
              <a:ext uri="{FF2B5EF4-FFF2-40B4-BE49-F238E27FC236}">
                <a16:creationId xmlns:a16="http://schemas.microsoft.com/office/drawing/2014/main" id="{CA93D9DF-91DB-7E01-201F-D7BB03941ECD}"/>
              </a:ext>
            </a:extLst>
          </p:cNvPr>
          <p:cNvPicPr>
            <a:picLocks noChangeAspect="1"/>
          </p:cNvPicPr>
          <p:nvPr/>
        </p:nvPicPr>
        <p:blipFill>
          <a:blip r:embed="rId4"/>
          <a:srcRect r="50000" b="50000"/>
          <a:stretch>
            <a:fillRect/>
          </a:stretch>
        </p:blipFill>
        <p:spPr>
          <a:xfrm>
            <a:off x="3337581" y="2112714"/>
            <a:ext cx="5278406" cy="3507099"/>
          </a:xfrm>
          <a:prstGeom prst="rect">
            <a:avLst/>
          </a:prstGeom>
        </p:spPr>
      </p:pic>
      <p:sp>
        <p:nvSpPr>
          <p:cNvPr id="9" name="Retângulo 8">
            <a:extLst>
              <a:ext uri="{FF2B5EF4-FFF2-40B4-BE49-F238E27FC236}">
                <a16:creationId xmlns:a16="http://schemas.microsoft.com/office/drawing/2014/main" id="{F972E413-6E4C-4778-8728-25C2A2AB0D2D}"/>
              </a:ext>
            </a:extLst>
          </p:cNvPr>
          <p:cNvSpPr/>
          <p:nvPr/>
        </p:nvSpPr>
        <p:spPr>
          <a:xfrm>
            <a:off x="926306" y="1969293"/>
            <a:ext cx="223838" cy="90487"/>
          </a:xfrm>
          <a:prstGeom prst="rect">
            <a:avLst/>
          </a:prstGeom>
          <a:noFill/>
          <a:ln w="28575">
            <a:solidFill>
              <a:srgbClr val="FF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11" name="Conector reto 10">
            <a:extLst>
              <a:ext uri="{FF2B5EF4-FFF2-40B4-BE49-F238E27FC236}">
                <a16:creationId xmlns:a16="http://schemas.microsoft.com/office/drawing/2014/main" id="{86B6800F-8D45-1EAC-B0BB-38A4FA5E0B17}"/>
              </a:ext>
            </a:extLst>
          </p:cNvPr>
          <p:cNvCxnSpPr>
            <a:cxnSpLocks/>
          </p:cNvCxnSpPr>
          <p:nvPr/>
        </p:nvCxnSpPr>
        <p:spPr>
          <a:xfrm>
            <a:off x="1150144" y="2059780"/>
            <a:ext cx="2507456" cy="3359945"/>
          </a:xfrm>
          <a:prstGeom prst="line">
            <a:avLst/>
          </a:prstGeom>
          <a:ln w="28575">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13" name="Conector reto 12">
            <a:extLst>
              <a:ext uri="{FF2B5EF4-FFF2-40B4-BE49-F238E27FC236}">
                <a16:creationId xmlns:a16="http://schemas.microsoft.com/office/drawing/2014/main" id="{7A3EFF71-3F8D-B507-CEF0-F4177877C836}"/>
              </a:ext>
            </a:extLst>
          </p:cNvPr>
          <p:cNvCxnSpPr>
            <a:cxnSpLocks/>
            <a:endCxn id="6" idx="0"/>
          </p:cNvCxnSpPr>
          <p:nvPr/>
        </p:nvCxnSpPr>
        <p:spPr>
          <a:xfrm>
            <a:off x="1150144" y="1969293"/>
            <a:ext cx="4826640" cy="143421"/>
          </a:xfrm>
          <a:prstGeom prst="line">
            <a:avLst/>
          </a:prstGeom>
          <a:ln w="28575">
            <a:solidFill>
              <a:srgbClr val="FF0000"/>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5123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28548B-5886-838D-62B4-913B5E023F8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E40274F-8DF1-1815-103D-6B9DE41F3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9D242E63-3A82-DC60-8C1E-632EE33CC0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58F218B-5F6A-A9F7-DD54-05BD49CDAB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99C09D-D2D4-49D2-3A6D-9BE21BBFADD9}"/>
              </a:ext>
            </a:extLst>
          </p:cNvPr>
          <p:cNvSpPr>
            <a:spLocks noGrp="1"/>
          </p:cNvSpPr>
          <p:nvPr>
            <p:ph type="title"/>
          </p:nvPr>
        </p:nvSpPr>
        <p:spPr>
          <a:xfrm>
            <a:off x="481330" y="613825"/>
            <a:ext cx="8178790" cy="1618489"/>
          </a:xfrm>
        </p:spPr>
        <p:txBody>
          <a:bodyPr anchor="ctr">
            <a:normAutofit/>
          </a:bodyPr>
          <a:lstStyle/>
          <a:p>
            <a:pPr>
              <a:lnSpc>
                <a:spcPct val="90000"/>
              </a:lnSpc>
            </a:pPr>
            <a:r>
              <a:rPr lang="en-US" sz="5400" b="1" u="sng" dirty="0"/>
              <a:t>Results I – SEIR Trajectories by Mask Scenario</a:t>
            </a:r>
          </a:p>
        </p:txBody>
      </p:sp>
      <p:pic>
        <p:nvPicPr>
          <p:cNvPr id="13" name="Imagem 12">
            <a:extLst>
              <a:ext uri="{FF2B5EF4-FFF2-40B4-BE49-F238E27FC236}">
                <a16:creationId xmlns:a16="http://schemas.microsoft.com/office/drawing/2014/main" id="{0760DB31-B5EB-ACC5-EFAF-47680E102B32}"/>
              </a:ext>
            </a:extLst>
          </p:cNvPr>
          <p:cNvPicPr>
            <a:picLocks noChangeAspect="1"/>
          </p:cNvPicPr>
          <p:nvPr/>
        </p:nvPicPr>
        <p:blipFill>
          <a:blip r:embed="rId2"/>
          <a:stretch>
            <a:fillRect/>
          </a:stretch>
        </p:blipFill>
        <p:spPr>
          <a:xfrm>
            <a:off x="1567183" y="2162176"/>
            <a:ext cx="6067668" cy="4031504"/>
          </a:xfrm>
          <a:prstGeom prst="rect">
            <a:avLst/>
          </a:prstGeom>
        </p:spPr>
      </p:pic>
      <p:pic>
        <p:nvPicPr>
          <p:cNvPr id="14" name="Imagem 13">
            <a:extLst>
              <a:ext uri="{FF2B5EF4-FFF2-40B4-BE49-F238E27FC236}">
                <a16:creationId xmlns:a16="http://schemas.microsoft.com/office/drawing/2014/main" id="{DD9CA53C-5059-36BB-E505-24050DFC5E07}"/>
              </a:ext>
            </a:extLst>
          </p:cNvPr>
          <p:cNvPicPr>
            <a:picLocks noChangeAspect="1"/>
          </p:cNvPicPr>
          <p:nvPr/>
        </p:nvPicPr>
        <p:blipFill>
          <a:blip r:embed="rId3">
            <a:duotone>
              <a:prstClr val="black"/>
              <a:schemeClr val="accent3">
                <a:tint val="45000"/>
                <a:satMod val="400000"/>
              </a:schemeClr>
            </a:duotone>
            <a:extLst>
              <a:ext uri="{BEBA8EAE-BF5A-486C-A8C5-ECC9F3942E4B}">
                <a14:imgProps xmlns:a14="http://schemas.microsoft.com/office/drawing/2010/main">
                  <a14:imgLayer r:embed="rId4">
                    <a14:imgEffect>
                      <a14:backgroundRemoval t="10000" b="90000" l="10000" r="90000"/>
                    </a14:imgEffect>
                  </a14:imgLayer>
                </a14:imgProps>
              </a:ext>
            </a:extLst>
          </a:blip>
          <a:srcRect l="13229" t="10894" r="9376" b="31196"/>
          <a:stretch>
            <a:fillRect/>
          </a:stretch>
        </p:blipFill>
        <p:spPr>
          <a:xfrm>
            <a:off x="5010150" y="2426783"/>
            <a:ext cx="609600" cy="285519"/>
          </a:xfrm>
          <a:prstGeom prst="rect">
            <a:avLst/>
          </a:prstGeom>
        </p:spPr>
      </p:pic>
      <p:pic>
        <p:nvPicPr>
          <p:cNvPr id="15" name="Imagem 14">
            <a:extLst>
              <a:ext uri="{FF2B5EF4-FFF2-40B4-BE49-F238E27FC236}">
                <a16:creationId xmlns:a16="http://schemas.microsoft.com/office/drawing/2014/main" id="{E84E2B19-FE13-9544-4EC3-059DD778CC72}"/>
              </a:ext>
            </a:extLst>
          </p:cNvPr>
          <p:cNvPicPr>
            <a:picLocks noChangeAspect="1"/>
          </p:cNvPicPr>
          <p:nvPr/>
        </p:nvPicPr>
        <p:blipFill>
          <a:blip r:embed="rId5">
            <a:duotone>
              <a:schemeClr val="accent1">
                <a:shade val="45000"/>
                <a:satMod val="135000"/>
              </a:schemeClr>
              <a:prstClr val="white"/>
            </a:duotone>
          </a:blip>
          <a:stretch>
            <a:fillRect/>
          </a:stretch>
        </p:blipFill>
        <p:spPr>
          <a:xfrm>
            <a:off x="1930411" y="4400550"/>
            <a:ext cx="781050" cy="518096"/>
          </a:xfrm>
          <a:prstGeom prst="rect">
            <a:avLst/>
          </a:prstGeom>
        </p:spPr>
      </p:pic>
      <p:pic>
        <p:nvPicPr>
          <p:cNvPr id="16" name="Imagem 15">
            <a:extLst>
              <a:ext uri="{FF2B5EF4-FFF2-40B4-BE49-F238E27FC236}">
                <a16:creationId xmlns:a16="http://schemas.microsoft.com/office/drawing/2014/main" id="{26DDDF9A-2439-7ADF-A994-67778B50493D}"/>
              </a:ext>
            </a:extLst>
          </p:cNvPr>
          <p:cNvPicPr>
            <a:picLocks noChangeAspect="1"/>
          </p:cNvPicPr>
          <p:nvPr/>
        </p:nvPicPr>
        <p:blipFill>
          <a:blip r:embed="rId6"/>
          <a:srcRect l="8958" t="9216" r="17139" b="9686"/>
          <a:stretch>
            <a:fillRect/>
          </a:stretch>
        </p:blipFill>
        <p:spPr>
          <a:xfrm>
            <a:off x="5014337" y="4422631"/>
            <a:ext cx="557298" cy="406112"/>
          </a:xfrm>
          <a:prstGeom prst="rect">
            <a:avLst/>
          </a:prstGeom>
        </p:spPr>
      </p:pic>
      <p:sp>
        <p:nvSpPr>
          <p:cNvPr id="17" name="Símbolo de &quot;Não Permitido&quot; 16">
            <a:extLst>
              <a:ext uri="{FF2B5EF4-FFF2-40B4-BE49-F238E27FC236}">
                <a16:creationId xmlns:a16="http://schemas.microsoft.com/office/drawing/2014/main" id="{A82FC0A6-A936-62F4-CCE6-2C7309C18EAE}"/>
              </a:ext>
            </a:extLst>
          </p:cNvPr>
          <p:cNvSpPr/>
          <p:nvPr/>
        </p:nvSpPr>
        <p:spPr>
          <a:xfrm>
            <a:off x="2028825" y="2426783"/>
            <a:ext cx="285750" cy="285519"/>
          </a:xfrm>
          <a:prstGeom prst="noSmoking">
            <a:avLst>
              <a:gd name="adj" fmla="val 13135"/>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992228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D68F19-B35A-CDA1-B73D-53108EBD0CA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C30C43E-F517-0361-A716-6893DF6BE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3BF66BEE-965A-EE5D-EBF6-EE904FFC01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0AE2F61-AE17-DE7C-FC8C-DC6E3BE812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43CFCD-17F0-BB41-1162-14FF2FF53862}"/>
              </a:ext>
            </a:extLst>
          </p:cNvPr>
          <p:cNvSpPr>
            <a:spLocks noGrp="1"/>
          </p:cNvSpPr>
          <p:nvPr>
            <p:ph type="title"/>
          </p:nvPr>
        </p:nvSpPr>
        <p:spPr>
          <a:xfrm>
            <a:off x="481330" y="613825"/>
            <a:ext cx="8178790" cy="1618489"/>
          </a:xfrm>
        </p:spPr>
        <p:txBody>
          <a:bodyPr anchor="ctr">
            <a:normAutofit/>
          </a:bodyPr>
          <a:lstStyle/>
          <a:p>
            <a:pPr>
              <a:lnSpc>
                <a:spcPct val="90000"/>
              </a:lnSpc>
            </a:pPr>
            <a:r>
              <a:rPr lang="en-US" sz="5400" b="1" u="sng" dirty="0"/>
              <a:t>Results II – Comparison of Infected Curves I(t)</a:t>
            </a:r>
          </a:p>
        </p:txBody>
      </p:sp>
      <p:pic>
        <p:nvPicPr>
          <p:cNvPr id="4" name="Imagem 3">
            <a:extLst>
              <a:ext uri="{FF2B5EF4-FFF2-40B4-BE49-F238E27FC236}">
                <a16:creationId xmlns:a16="http://schemas.microsoft.com/office/drawing/2014/main" id="{58DF193E-C34E-B21B-69A5-1EAEB1D99B2A}"/>
              </a:ext>
            </a:extLst>
          </p:cNvPr>
          <p:cNvPicPr>
            <a:picLocks noChangeAspect="1"/>
          </p:cNvPicPr>
          <p:nvPr/>
        </p:nvPicPr>
        <p:blipFill>
          <a:blip r:embed="rId2"/>
          <a:stretch>
            <a:fillRect/>
          </a:stretch>
        </p:blipFill>
        <p:spPr>
          <a:xfrm>
            <a:off x="3581400" y="2846139"/>
            <a:ext cx="4991100" cy="3316206"/>
          </a:xfrm>
          <a:prstGeom prst="rect">
            <a:avLst/>
          </a:prstGeom>
        </p:spPr>
      </p:pic>
      <p:pic>
        <p:nvPicPr>
          <p:cNvPr id="5" name="Imagem 4">
            <a:extLst>
              <a:ext uri="{FF2B5EF4-FFF2-40B4-BE49-F238E27FC236}">
                <a16:creationId xmlns:a16="http://schemas.microsoft.com/office/drawing/2014/main" id="{96E8B25F-D8F4-708E-0EC6-E6AEB750D7A6}"/>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20000"/>
                    </a14:imgEffect>
                  </a14:imgLayer>
                </a14:imgProps>
              </a:ext>
            </a:extLst>
          </a:blip>
          <a:srcRect r="32238"/>
          <a:stretch>
            <a:fillRect/>
          </a:stretch>
        </p:blipFill>
        <p:spPr>
          <a:xfrm>
            <a:off x="541030" y="2158231"/>
            <a:ext cx="2886075" cy="1618489"/>
          </a:xfrm>
          <a:prstGeom prst="rect">
            <a:avLst/>
          </a:prstGeom>
        </p:spPr>
      </p:pic>
      <p:pic>
        <p:nvPicPr>
          <p:cNvPr id="6" name="Imagem 5">
            <a:extLst>
              <a:ext uri="{FF2B5EF4-FFF2-40B4-BE49-F238E27FC236}">
                <a16:creationId xmlns:a16="http://schemas.microsoft.com/office/drawing/2014/main" id="{7A460B7B-EC7D-B6C6-2C5B-EF9E92152489}"/>
              </a:ext>
            </a:extLst>
          </p:cNvPr>
          <p:cNvPicPr>
            <a:picLocks noChangeAspect="1"/>
          </p:cNvPicPr>
          <p:nvPr/>
        </p:nvPicPr>
        <p:blipFill>
          <a:blip r:embed="rId5">
            <a:duotone>
              <a:prstClr val="black"/>
              <a:schemeClr val="accent3">
                <a:tint val="45000"/>
                <a:satMod val="400000"/>
              </a:schemeClr>
            </a:duotone>
            <a:extLst>
              <a:ext uri="{BEBA8EAE-BF5A-486C-A8C5-ECC9F3942E4B}">
                <a14:imgProps xmlns:a14="http://schemas.microsoft.com/office/drawing/2010/main">
                  <a14:imgLayer r:embed="rId6">
                    <a14:imgEffect>
                      <a14:backgroundRemoval t="10000" b="90000" l="10000" r="90000"/>
                    </a14:imgEffect>
                  </a14:imgLayer>
                </a14:imgProps>
              </a:ext>
            </a:extLst>
          </a:blip>
          <a:srcRect l="13229" t="10894" r="9376" b="31196"/>
          <a:stretch>
            <a:fillRect/>
          </a:stretch>
        </p:blipFill>
        <p:spPr>
          <a:xfrm>
            <a:off x="5266835" y="3386908"/>
            <a:ext cx="609600" cy="285519"/>
          </a:xfrm>
          <a:prstGeom prst="rect">
            <a:avLst/>
          </a:prstGeom>
        </p:spPr>
      </p:pic>
      <p:pic>
        <p:nvPicPr>
          <p:cNvPr id="7" name="Imagem 6">
            <a:extLst>
              <a:ext uri="{FF2B5EF4-FFF2-40B4-BE49-F238E27FC236}">
                <a16:creationId xmlns:a16="http://schemas.microsoft.com/office/drawing/2014/main" id="{465E8758-D549-84E5-072A-41994AA3F37A}"/>
              </a:ext>
            </a:extLst>
          </p:cNvPr>
          <p:cNvPicPr>
            <a:picLocks noChangeAspect="1"/>
          </p:cNvPicPr>
          <p:nvPr/>
        </p:nvPicPr>
        <p:blipFill>
          <a:blip r:embed="rId7">
            <a:duotone>
              <a:schemeClr val="accent1">
                <a:shade val="45000"/>
                <a:satMod val="135000"/>
              </a:schemeClr>
              <a:prstClr val="white"/>
            </a:duotone>
          </a:blip>
          <a:stretch>
            <a:fillRect/>
          </a:stretch>
        </p:blipFill>
        <p:spPr>
          <a:xfrm>
            <a:off x="5763963" y="3903107"/>
            <a:ext cx="781050" cy="518096"/>
          </a:xfrm>
          <a:prstGeom prst="rect">
            <a:avLst/>
          </a:prstGeom>
        </p:spPr>
      </p:pic>
      <p:pic>
        <p:nvPicPr>
          <p:cNvPr id="9" name="Imagem 8">
            <a:extLst>
              <a:ext uri="{FF2B5EF4-FFF2-40B4-BE49-F238E27FC236}">
                <a16:creationId xmlns:a16="http://schemas.microsoft.com/office/drawing/2014/main" id="{7BEA9729-0C3F-0A4F-A06C-D91CE75CC58A}"/>
              </a:ext>
            </a:extLst>
          </p:cNvPr>
          <p:cNvPicPr>
            <a:picLocks noChangeAspect="1"/>
          </p:cNvPicPr>
          <p:nvPr/>
        </p:nvPicPr>
        <p:blipFill>
          <a:blip r:embed="rId8"/>
          <a:srcRect l="8958" t="9216" r="17139" b="9686"/>
          <a:stretch>
            <a:fillRect/>
          </a:stretch>
        </p:blipFill>
        <p:spPr>
          <a:xfrm>
            <a:off x="7780363" y="4787180"/>
            <a:ext cx="557298" cy="406112"/>
          </a:xfrm>
          <a:prstGeom prst="rect">
            <a:avLst/>
          </a:prstGeom>
        </p:spPr>
      </p:pic>
      <p:sp>
        <p:nvSpPr>
          <p:cNvPr id="11" name="Símbolo de &quot;Não Permitido&quot; 10">
            <a:extLst>
              <a:ext uri="{FF2B5EF4-FFF2-40B4-BE49-F238E27FC236}">
                <a16:creationId xmlns:a16="http://schemas.microsoft.com/office/drawing/2014/main" id="{07302A78-29A4-3465-22B6-7CB77A0691B5}"/>
              </a:ext>
            </a:extLst>
          </p:cNvPr>
          <p:cNvSpPr/>
          <p:nvPr/>
        </p:nvSpPr>
        <p:spPr>
          <a:xfrm>
            <a:off x="4724400" y="3040608"/>
            <a:ext cx="285750" cy="285519"/>
          </a:xfrm>
          <a:prstGeom prst="noSmoking">
            <a:avLst>
              <a:gd name="adj" fmla="val 13135"/>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1760642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EED5E2-D6F6-1EC6-0C91-9EEF831B1B3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3DCB29D-D674-4F75-D0A9-4EE39F7101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4BDD2977-F744-D4A2-1A45-9C62B4785B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B58ED90-4E4C-BE64-C2DA-3BBA35CFCA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855EF9-20AC-F283-5D12-53A4C5571968}"/>
              </a:ext>
            </a:extLst>
          </p:cNvPr>
          <p:cNvSpPr>
            <a:spLocks noGrp="1"/>
          </p:cNvSpPr>
          <p:nvPr>
            <p:ph type="title"/>
          </p:nvPr>
        </p:nvSpPr>
        <p:spPr>
          <a:xfrm>
            <a:off x="481330" y="613825"/>
            <a:ext cx="8178790" cy="1618489"/>
          </a:xfrm>
        </p:spPr>
        <p:txBody>
          <a:bodyPr anchor="ctr">
            <a:normAutofit/>
          </a:bodyPr>
          <a:lstStyle/>
          <a:p>
            <a:pPr>
              <a:lnSpc>
                <a:spcPct val="90000"/>
              </a:lnSpc>
            </a:pPr>
            <a:r>
              <a:rPr lang="en-US" sz="5400" b="1" u="sng" dirty="0"/>
              <a:t>Results III – Severe Cases and Bed Capacity</a:t>
            </a:r>
          </a:p>
        </p:txBody>
      </p:sp>
      <p:pic>
        <p:nvPicPr>
          <p:cNvPr id="4" name="Imagem 3">
            <a:extLst>
              <a:ext uri="{FF2B5EF4-FFF2-40B4-BE49-F238E27FC236}">
                <a16:creationId xmlns:a16="http://schemas.microsoft.com/office/drawing/2014/main" id="{FE3F3C79-38B6-658E-7F2A-2959BC63389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p:blipFill>
        <p:spPr>
          <a:xfrm>
            <a:off x="531759" y="2174526"/>
            <a:ext cx="3468863" cy="1444974"/>
          </a:xfrm>
          <a:prstGeom prst="rect">
            <a:avLst/>
          </a:prstGeom>
        </p:spPr>
      </p:pic>
      <p:pic>
        <p:nvPicPr>
          <p:cNvPr id="6" name="Imagem 5">
            <a:extLst>
              <a:ext uri="{FF2B5EF4-FFF2-40B4-BE49-F238E27FC236}">
                <a16:creationId xmlns:a16="http://schemas.microsoft.com/office/drawing/2014/main" id="{D4FDD3C4-1D71-7E11-96FF-416749924A4B}"/>
              </a:ext>
            </a:extLst>
          </p:cNvPr>
          <p:cNvPicPr>
            <a:picLocks noChangeAspect="1"/>
          </p:cNvPicPr>
          <p:nvPr/>
        </p:nvPicPr>
        <p:blipFill>
          <a:blip r:embed="rId4"/>
          <a:stretch>
            <a:fillRect/>
          </a:stretch>
        </p:blipFill>
        <p:spPr>
          <a:xfrm>
            <a:off x="3695700" y="2895278"/>
            <a:ext cx="4916541" cy="3266667"/>
          </a:xfrm>
          <a:prstGeom prst="rect">
            <a:avLst/>
          </a:prstGeom>
        </p:spPr>
      </p:pic>
      <p:pic>
        <p:nvPicPr>
          <p:cNvPr id="7" name="Imagem 6">
            <a:extLst>
              <a:ext uri="{FF2B5EF4-FFF2-40B4-BE49-F238E27FC236}">
                <a16:creationId xmlns:a16="http://schemas.microsoft.com/office/drawing/2014/main" id="{8DF40C37-BD2C-9FA4-639D-AA772CA790BA}"/>
              </a:ext>
            </a:extLst>
          </p:cNvPr>
          <p:cNvPicPr>
            <a:picLocks noChangeAspect="1"/>
          </p:cNvPicPr>
          <p:nvPr/>
        </p:nvPicPr>
        <p:blipFill>
          <a:blip r:embed="rId5">
            <a:duotone>
              <a:prstClr val="black"/>
              <a:schemeClr val="accent3">
                <a:tint val="45000"/>
                <a:satMod val="400000"/>
              </a:schemeClr>
            </a:duotone>
            <a:extLst>
              <a:ext uri="{BEBA8EAE-BF5A-486C-A8C5-ECC9F3942E4B}">
                <a14:imgProps xmlns:a14="http://schemas.microsoft.com/office/drawing/2010/main">
                  <a14:imgLayer r:embed="rId6">
                    <a14:imgEffect>
                      <a14:backgroundRemoval t="10000" b="90000" l="10000" r="90000"/>
                    </a14:imgEffect>
                  </a14:imgLayer>
                </a14:imgProps>
              </a:ext>
            </a:extLst>
          </a:blip>
          <a:srcRect l="13229" t="10894" r="9376" b="31196"/>
          <a:stretch>
            <a:fillRect/>
          </a:stretch>
        </p:blipFill>
        <p:spPr>
          <a:xfrm>
            <a:off x="5609735" y="3572767"/>
            <a:ext cx="609600" cy="285519"/>
          </a:xfrm>
          <a:prstGeom prst="rect">
            <a:avLst/>
          </a:prstGeom>
        </p:spPr>
      </p:pic>
      <p:pic>
        <p:nvPicPr>
          <p:cNvPr id="9" name="Imagem 8">
            <a:extLst>
              <a:ext uri="{FF2B5EF4-FFF2-40B4-BE49-F238E27FC236}">
                <a16:creationId xmlns:a16="http://schemas.microsoft.com/office/drawing/2014/main" id="{A86B8366-36F8-8731-7B0F-373EB0A5A318}"/>
              </a:ext>
            </a:extLst>
          </p:cNvPr>
          <p:cNvPicPr>
            <a:picLocks noChangeAspect="1"/>
          </p:cNvPicPr>
          <p:nvPr/>
        </p:nvPicPr>
        <p:blipFill>
          <a:blip r:embed="rId7">
            <a:duotone>
              <a:schemeClr val="accent1">
                <a:shade val="45000"/>
                <a:satMod val="135000"/>
              </a:schemeClr>
              <a:prstClr val="white"/>
            </a:duotone>
          </a:blip>
          <a:stretch>
            <a:fillRect/>
          </a:stretch>
        </p:blipFill>
        <p:spPr>
          <a:xfrm>
            <a:off x="6021138" y="4017185"/>
            <a:ext cx="781050" cy="518096"/>
          </a:xfrm>
          <a:prstGeom prst="rect">
            <a:avLst/>
          </a:prstGeom>
        </p:spPr>
      </p:pic>
      <p:pic>
        <p:nvPicPr>
          <p:cNvPr id="11" name="Imagem 10">
            <a:extLst>
              <a:ext uri="{FF2B5EF4-FFF2-40B4-BE49-F238E27FC236}">
                <a16:creationId xmlns:a16="http://schemas.microsoft.com/office/drawing/2014/main" id="{82DE616A-2A5D-2FB3-A6D1-A0EA916B19F1}"/>
              </a:ext>
            </a:extLst>
          </p:cNvPr>
          <p:cNvPicPr>
            <a:picLocks noChangeAspect="1"/>
          </p:cNvPicPr>
          <p:nvPr/>
        </p:nvPicPr>
        <p:blipFill>
          <a:blip r:embed="rId8"/>
          <a:srcRect l="8958" t="9216" r="17139" b="9686"/>
          <a:stretch>
            <a:fillRect/>
          </a:stretch>
        </p:blipFill>
        <p:spPr>
          <a:xfrm>
            <a:off x="7848113" y="4806008"/>
            <a:ext cx="557298" cy="406112"/>
          </a:xfrm>
          <a:prstGeom prst="rect">
            <a:avLst/>
          </a:prstGeom>
        </p:spPr>
      </p:pic>
      <p:sp>
        <p:nvSpPr>
          <p:cNvPr id="13" name="Símbolo de &quot;Não Permitido&quot; 12">
            <a:extLst>
              <a:ext uri="{FF2B5EF4-FFF2-40B4-BE49-F238E27FC236}">
                <a16:creationId xmlns:a16="http://schemas.microsoft.com/office/drawing/2014/main" id="{1DBC8936-68E8-3ABB-D319-58981EDEDCDB}"/>
              </a:ext>
            </a:extLst>
          </p:cNvPr>
          <p:cNvSpPr/>
          <p:nvPr/>
        </p:nvSpPr>
        <p:spPr>
          <a:xfrm>
            <a:off x="5372100" y="3154686"/>
            <a:ext cx="285750" cy="285519"/>
          </a:xfrm>
          <a:prstGeom prst="noSmoking">
            <a:avLst>
              <a:gd name="adj" fmla="val 13135"/>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916750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04850" y="1438275"/>
            <a:ext cx="7753350" cy="4867276"/>
          </a:xfrm>
        </p:spPr>
        <p:txBody>
          <a:bodyPr anchor="t">
            <a:normAutofit fontScale="92500"/>
          </a:bodyPr>
          <a:lstStyle/>
          <a:p>
            <a:pPr algn="ctr">
              <a:lnSpc>
                <a:spcPct val="90000"/>
              </a:lnSpc>
            </a:pPr>
            <a:endParaRPr lang="en-US" sz="1800" dirty="0"/>
          </a:p>
          <a:p>
            <a:pPr algn="ctr">
              <a:lnSpc>
                <a:spcPct val="90000"/>
              </a:lnSpc>
            </a:pPr>
            <a:r>
              <a:rPr lang="en-US" sz="1800" dirty="0"/>
              <a:t>SEIR model is a useful approach to explore spread of virus diseases like COVID-19.</a:t>
            </a:r>
          </a:p>
          <a:p>
            <a:pPr algn="ctr">
              <a:lnSpc>
                <a:spcPct val="90000"/>
              </a:lnSpc>
            </a:pPr>
            <a:endParaRPr lang="en-US" sz="1800" dirty="0"/>
          </a:p>
          <a:p>
            <a:pPr algn="ctr">
              <a:lnSpc>
                <a:spcPct val="90000"/>
              </a:lnSpc>
            </a:pPr>
            <a:r>
              <a:rPr lang="en-US" sz="1800" dirty="0"/>
              <a:t>As </a:t>
            </a:r>
            <a:r>
              <a:rPr lang="el-GR" sz="1800" dirty="0"/>
              <a:t>λ</a:t>
            </a:r>
            <a:r>
              <a:rPr lang="en-US" sz="1800" dirty="0"/>
              <a:t> decreases from values representing no mask use to cloth, surgical, and finally N95/PFF2 masks, both the total number of infections and the peak prevalence of active cases are progressively reduced and delayed, demonstrating a clear flattening of the epidemic curve.</a:t>
            </a:r>
          </a:p>
          <a:p>
            <a:pPr algn="ctr">
              <a:lnSpc>
                <a:spcPct val="90000"/>
              </a:lnSpc>
            </a:pPr>
            <a:endParaRPr lang="en-US" sz="1800" dirty="0"/>
          </a:p>
          <a:p>
            <a:pPr algn="ctr">
              <a:lnSpc>
                <a:spcPct val="90000"/>
              </a:lnSpc>
            </a:pPr>
            <a:r>
              <a:rPr lang="en-US" sz="1800" dirty="0"/>
              <a:t>When severe cases are approximated as 15% of infections and compared with the number of rest/observation beds available in emergency units in São Paulo, only the N95/PFF2 mask produces a peak of severe disease that approaches, rather than vastly exceeds, the existing capacity.</a:t>
            </a:r>
          </a:p>
          <a:p>
            <a:pPr algn="ctr">
              <a:lnSpc>
                <a:spcPct val="90000"/>
              </a:lnSpc>
            </a:pPr>
            <a:endParaRPr lang="en-US" sz="1800" dirty="0"/>
          </a:p>
          <a:p>
            <a:pPr algn="ctr">
              <a:lnSpc>
                <a:spcPct val="90000"/>
              </a:lnSpc>
            </a:pPr>
            <a:r>
              <a:rPr lang="en-US" sz="1800" dirty="0"/>
              <a:t>Although based on a simplified model and several assumptions, results obtained across mathematical simulations reinforce the importance of high-efficacy masks as a non-pharmaceutical intervention capable of mitigating health-system overload during viral pandemics, particularly in the early phases when vaccines and specific treatments may not yet be widely available.</a:t>
            </a:r>
          </a:p>
        </p:txBody>
      </p:sp>
      <p:sp>
        <p:nvSpPr>
          <p:cNvPr id="6" name="Title 1">
            <a:extLst>
              <a:ext uri="{FF2B5EF4-FFF2-40B4-BE49-F238E27FC236}">
                <a16:creationId xmlns:a16="http://schemas.microsoft.com/office/drawing/2014/main" id="{A89C0148-56FE-37ED-EE2B-899EF7283A8D}"/>
              </a:ext>
            </a:extLst>
          </p:cNvPr>
          <p:cNvSpPr txBox="1">
            <a:spLocks/>
          </p:cNvSpPr>
          <p:nvPr/>
        </p:nvSpPr>
        <p:spPr>
          <a:xfrm>
            <a:off x="481330" y="280450"/>
            <a:ext cx="8178790" cy="161848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sz="5400" b="1" u="sng" dirty="0"/>
              <a:t>Conclusion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D9AC52-88DA-2BEF-E5EA-CE61F6A1839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403CD27-DF2D-6D00-ACC6-3D636BC55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943B6BA5-9416-A1D0-A88F-B9CD1D384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F6A1F80-CE5D-8DB0-3BD2-E77D17112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4F81CEE-DFF7-644B-DD5F-FFF09411CC8F}"/>
              </a:ext>
            </a:extLst>
          </p:cNvPr>
          <p:cNvSpPr>
            <a:spLocks noGrp="1"/>
          </p:cNvSpPr>
          <p:nvPr>
            <p:ph idx="1"/>
          </p:nvPr>
        </p:nvSpPr>
        <p:spPr>
          <a:xfrm>
            <a:off x="704850" y="1438275"/>
            <a:ext cx="7753350" cy="4867276"/>
          </a:xfrm>
        </p:spPr>
        <p:txBody>
          <a:bodyPr anchor="t">
            <a:normAutofit fontScale="92500" lnSpcReduction="20000"/>
          </a:bodyPr>
          <a:lstStyle/>
          <a:p>
            <a:pPr marL="0" indent="0" algn="ctr">
              <a:lnSpc>
                <a:spcPct val="90000"/>
              </a:lnSpc>
              <a:buNone/>
            </a:pPr>
            <a:r>
              <a:rPr lang="en-US" sz="1800" dirty="0"/>
              <a:t>Although SEIR framework is useful to explore hypothetical scenarios related to impact of mask-based interventions and to generate insights that can aid preparedness and response planning for future epidemics, some issues should be considered:</a:t>
            </a:r>
          </a:p>
          <a:p>
            <a:pPr algn="ctr">
              <a:lnSpc>
                <a:spcPct val="90000"/>
              </a:lnSpc>
            </a:pPr>
            <a:endParaRPr lang="en-US" sz="1800" dirty="0"/>
          </a:p>
          <a:p>
            <a:pPr marL="400050" indent="-400050" algn="ctr">
              <a:lnSpc>
                <a:spcPct val="90000"/>
              </a:lnSpc>
              <a:buFont typeface="+mj-lt"/>
              <a:buAutoNum type="romanUcPeriod"/>
            </a:pPr>
            <a:r>
              <a:rPr lang="en-US" sz="1800" dirty="0"/>
              <a:t>First, it assumes homogeneous mixing of the population, ignoring heterogeneity in contact patterns by age, occupation, household structure, or geography;</a:t>
            </a:r>
          </a:p>
          <a:p>
            <a:pPr marL="400050" indent="-400050" algn="ctr">
              <a:lnSpc>
                <a:spcPct val="90000"/>
              </a:lnSpc>
              <a:buFont typeface="+mj-lt"/>
              <a:buAutoNum type="romanUcPeriod"/>
            </a:pPr>
            <a:endParaRPr lang="en-US" sz="1800" dirty="0"/>
          </a:p>
          <a:p>
            <a:pPr marL="400050" indent="-400050" algn="ctr">
              <a:lnSpc>
                <a:spcPct val="90000"/>
              </a:lnSpc>
              <a:buFont typeface="+mj-lt"/>
              <a:buAutoNum type="romanUcPeriod"/>
            </a:pPr>
            <a:r>
              <a:rPr lang="en-US" sz="1800" dirty="0"/>
              <a:t>Second, model parameters such as transmission, incubation, and recovery rates were assumed to be constant, which may not capture rapid changes in behavior, policy measures, viral variants, or health-care capacity over time;</a:t>
            </a:r>
          </a:p>
          <a:p>
            <a:pPr marL="400050" indent="-400050" algn="ctr">
              <a:lnSpc>
                <a:spcPct val="90000"/>
              </a:lnSpc>
              <a:buFont typeface="+mj-lt"/>
              <a:buAutoNum type="romanUcPeriod"/>
            </a:pPr>
            <a:endParaRPr lang="en-US" sz="1800" dirty="0"/>
          </a:p>
          <a:p>
            <a:pPr marL="400050" indent="-400050" algn="ctr">
              <a:lnSpc>
                <a:spcPct val="90000"/>
              </a:lnSpc>
              <a:buFont typeface="+mj-lt"/>
              <a:buAutoNum type="romanUcPeriod"/>
            </a:pPr>
            <a:r>
              <a:rPr lang="en-US" sz="1800" dirty="0"/>
              <a:t>Third, classical SEIR models are deterministic and do not incorporate stochastic effects that can be relevant, especially in the early phase of an outbreak or in smaller populations.</a:t>
            </a:r>
          </a:p>
          <a:p>
            <a:pPr marL="400050" indent="-400050" algn="ctr">
              <a:lnSpc>
                <a:spcPct val="90000"/>
              </a:lnSpc>
              <a:buFont typeface="+mj-lt"/>
              <a:buAutoNum type="romanUcPeriod"/>
            </a:pPr>
            <a:endParaRPr lang="en-US" sz="1800" dirty="0"/>
          </a:p>
          <a:p>
            <a:pPr marL="400050" indent="-400050" algn="ctr">
              <a:lnSpc>
                <a:spcPct val="90000"/>
              </a:lnSpc>
              <a:buFont typeface="+mj-lt"/>
              <a:buAutoNum type="romanUcPeriod"/>
            </a:pPr>
            <a:r>
              <a:rPr lang="en-US" sz="1800" dirty="0"/>
              <a:t>Fourth, the model usually assumes that recovered individuals acquire complete and lasting immunity, overlooking waning immunity, reinfections, and the impact of vaccination.</a:t>
            </a:r>
          </a:p>
          <a:p>
            <a:pPr marL="400050" indent="-400050" algn="ctr">
              <a:lnSpc>
                <a:spcPct val="90000"/>
              </a:lnSpc>
              <a:buFont typeface="+mj-lt"/>
              <a:buAutoNum type="romanUcPeriod"/>
            </a:pPr>
            <a:endParaRPr lang="en-US" sz="1800" dirty="0"/>
          </a:p>
          <a:p>
            <a:pPr marL="400050" indent="-400050" algn="ctr">
              <a:lnSpc>
                <a:spcPct val="90000"/>
              </a:lnSpc>
              <a:buFont typeface="+mj-lt"/>
              <a:buAutoNum type="romanUcPeriod"/>
            </a:pPr>
            <a:r>
              <a:rPr lang="en-US" sz="1800" dirty="0"/>
              <a:t>Finally, when SEIR models are used to evaluate interventions such as mask use, they often encode these effects as static reductions in the transmission rate, without explicitly accounting for imperfect adherence, incorrect use, or differences in risk across settings (e.g., households vs. workplaces)</a:t>
            </a:r>
          </a:p>
        </p:txBody>
      </p:sp>
      <p:sp>
        <p:nvSpPr>
          <p:cNvPr id="6" name="Title 1">
            <a:extLst>
              <a:ext uri="{FF2B5EF4-FFF2-40B4-BE49-F238E27FC236}">
                <a16:creationId xmlns:a16="http://schemas.microsoft.com/office/drawing/2014/main" id="{5CE54F2D-65A9-92B6-7BDE-70FAF2A493B0}"/>
              </a:ext>
            </a:extLst>
          </p:cNvPr>
          <p:cNvSpPr txBox="1">
            <a:spLocks/>
          </p:cNvSpPr>
          <p:nvPr/>
        </p:nvSpPr>
        <p:spPr>
          <a:xfrm>
            <a:off x="481330" y="280450"/>
            <a:ext cx="8178790" cy="161848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sz="5400" b="1" u="sng" dirty="0"/>
              <a:t>Limitations</a:t>
            </a:r>
          </a:p>
        </p:txBody>
      </p:sp>
    </p:spTree>
    <p:extLst>
      <p:ext uri="{BB962C8B-B14F-4D97-AF65-F5344CB8AC3E}">
        <p14:creationId xmlns:p14="http://schemas.microsoft.com/office/powerpoint/2010/main" val="404007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25806" y="1766336"/>
            <a:ext cx="6903720" cy="4139164"/>
          </a:xfrm>
        </p:spPr>
        <p:txBody>
          <a:bodyPr anchor="t">
            <a:normAutofit fontScale="77500" lnSpcReduction="20000"/>
          </a:bodyPr>
          <a:lstStyle/>
          <a:p>
            <a:pPr marL="457200" indent="-457200" algn="just">
              <a:lnSpc>
                <a:spcPct val="90000"/>
              </a:lnSpc>
              <a:buFont typeface="+mj-lt"/>
              <a:buAutoNum type="arabicPeriod"/>
            </a:pPr>
            <a:r>
              <a:rPr lang="en-US" sz="1900" dirty="0" err="1"/>
              <a:t>Bhadoria</a:t>
            </a:r>
            <a:r>
              <a:rPr lang="en-US" sz="1900" dirty="0"/>
              <a:t> P, Gupta G, Agarwal A. Viral Pandemics in the Past Two Decades: An Overview. J Family Med Prim Care. 2021;10(8):2745-50.</a:t>
            </a:r>
          </a:p>
          <a:p>
            <a:pPr marL="457200" indent="-457200" algn="just">
              <a:lnSpc>
                <a:spcPct val="90000"/>
              </a:lnSpc>
              <a:buFont typeface="+mj-lt"/>
              <a:buAutoNum type="arabicPeriod"/>
            </a:pPr>
            <a:endParaRPr lang="en-US" sz="1900" dirty="0"/>
          </a:p>
          <a:p>
            <a:pPr marL="457200" indent="-457200" algn="just">
              <a:lnSpc>
                <a:spcPct val="90000"/>
              </a:lnSpc>
              <a:buFont typeface="+mj-lt"/>
              <a:buAutoNum type="arabicPeriod"/>
            </a:pPr>
            <a:r>
              <a:rPr lang="en-US" sz="1900" dirty="0" err="1"/>
              <a:t>Morens</a:t>
            </a:r>
            <a:r>
              <a:rPr lang="en-US" sz="1900" dirty="0"/>
              <a:t> DM, Fauci AS. Emerging Pandemic Diseases: How We Got to COVID-19. Cell. 2020;182(5):1077-92.</a:t>
            </a:r>
          </a:p>
          <a:p>
            <a:pPr marL="457200" indent="-457200" algn="just">
              <a:lnSpc>
                <a:spcPct val="90000"/>
              </a:lnSpc>
              <a:buFont typeface="+mj-lt"/>
              <a:buAutoNum type="arabicPeriod"/>
            </a:pPr>
            <a:endParaRPr lang="en-US" sz="1900" dirty="0"/>
          </a:p>
          <a:p>
            <a:pPr marL="457200" indent="-457200" algn="just">
              <a:lnSpc>
                <a:spcPct val="90000"/>
              </a:lnSpc>
              <a:buFont typeface="+mj-lt"/>
              <a:buAutoNum type="arabicPeriod"/>
            </a:pPr>
            <a:r>
              <a:rPr lang="en-US" sz="1900" dirty="0"/>
              <a:t>Wilder-Smith A. COVID-19 in comparison with other emerging viral diseases: risk of geographic spread via travel. Trop Dis Travel Med Vaccines. 2021;7(1):3.</a:t>
            </a:r>
          </a:p>
          <a:p>
            <a:pPr marL="457200" indent="-457200" algn="just">
              <a:lnSpc>
                <a:spcPct val="90000"/>
              </a:lnSpc>
              <a:buFont typeface="+mj-lt"/>
              <a:buAutoNum type="arabicPeriod"/>
            </a:pPr>
            <a:endParaRPr lang="en-US" sz="1900" dirty="0"/>
          </a:p>
          <a:p>
            <a:pPr marL="457200" indent="-457200" algn="just">
              <a:lnSpc>
                <a:spcPct val="90000"/>
              </a:lnSpc>
              <a:buFont typeface="+mj-lt"/>
              <a:buAutoNum type="arabicPeriod"/>
            </a:pPr>
            <a:r>
              <a:rPr lang="en-US" sz="1900" dirty="0"/>
              <a:t>Liu X. Analytical solution of l-</a:t>
            </a:r>
            <a:r>
              <a:rPr lang="en-US" sz="1900" dirty="0" err="1"/>
              <a:t>i</a:t>
            </a:r>
            <a:r>
              <a:rPr lang="en-US" sz="1900" dirty="0"/>
              <a:t> SEIR model-Comparison of l-</a:t>
            </a:r>
            <a:r>
              <a:rPr lang="en-US" sz="1900" dirty="0" err="1"/>
              <a:t>i</a:t>
            </a:r>
            <a:r>
              <a:rPr lang="en-US" sz="1900" dirty="0"/>
              <a:t> SEIR model with conventional SEIR model in simulation of epidemic curves. </a:t>
            </a:r>
            <a:r>
              <a:rPr lang="en-US" sz="1900" dirty="0" err="1"/>
              <a:t>PLoS</a:t>
            </a:r>
            <a:r>
              <a:rPr lang="en-US" sz="1900" dirty="0"/>
              <a:t> One. 2023;18(6):e0287196.</a:t>
            </a:r>
          </a:p>
          <a:p>
            <a:pPr marL="457200" indent="-457200" algn="just">
              <a:lnSpc>
                <a:spcPct val="90000"/>
              </a:lnSpc>
              <a:buFont typeface="+mj-lt"/>
              <a:buAutoNum type="arabicPeriod"/>
            </a:pPr>
            <a:endParaRPr lang="en-US" sz="1900" dirty="0"/>
          </a:p>
          <a:p>
            <a:pPr marL="457200" indent="-457200" algn="just">
              <a:lnSpc>
                <a:spcPct val="90000"/>
              </a:lnSpc>
              <a:buFont typeface="+mj-lt"/>
              <a:buAutoNum type="arabicPeriod"/>
            </a:pPr>
            <a:r>
              <a:rPr lang="en-US" sz="1900" dirty="0"/>
              <a:t>Pinto Neto O, Kennedy DM, Reis JC, Wang Y, Brizzi ACB, Zambrano GJ, de Souza JM, Pedroso W, de Mello </a:t>
            </a:r>
            <a:r>
              <a:rPr lang="en-US" sz="1900" dirty="0" err="1"/>
              <a:t>Pedreiro</a:t>
            </a:r>
            <a:r>
              <a:rPr lang="en-US" sz="1900" dirty="0"/>
              <a:t> RC, de Matos Brizzi B, Abinader EO, </a:t>
            </a:r>
            <a:r>
              <a:rPr lang="en-US" sz="1900" dirty="0" err="1"/>
              <a:t>Zângaro</a:t>
            </a:r>
            <a:r>
              <a:rPr lang="en-US" sz="1900" dirty="0"/>
              <a:t> RA. Mathematical model of COVID-19 intervention scenarios for São Paulo-Brazil. Nat Commun. 2021 Jan 18;12(1):418.</a:t>
            </a:r>
          </a:p>
          <a:p>
            <a:pPr marL="457200" indent="-457200" algn="just">
              <a:lnSpc>
                <a:spcPct val="90000"/>
              </a:lnSpc>
              <a:buFont typeface="+mj-lt"/>
              <a:buAutoNum type="arabicPeriod"/>
            </a:pPr>
            <a:endParaRPr lang="en-US" sz="1900" dirty="0"/>
          </a:p>
          <a:p>
            <a:pPr marL="457200" indent="-457200" algn="just">
              <a:lnSpc>
                <a:spcPct val="90000"/>
              </a:lnSpc>
              <a:buFont typeface="+mj-lt"/>
              <a:buAutoNum type="arabicPeriod"/>
            </a:pPr>
            <a:r>
              <a:rPr lang="en-US" sz="1900" dirty="0"/>
              <a:t>Floriano I, </a:t>
            </a:r>
            <a:r>
              <a:rPr lang="en-US" sz="1900" dirty="0" err="1"/>
              <a:t>Silvinato</a:t>
            </a:r>
            <a:r>
              <a:rPr lang="en-US" sz="1900" dirty="0"/>
              <a:t> A, Bacha HA, Barbosa AN, Tanni S, Bernardo WM. Effectiveness of wearing masks during the COVID-19 outbreak in cohort and case-control studies: a systematic review and meta-analysis. J Bras </a:t>
            </a:r>
            <a:r>
              <a:rPr lang="en-US" sz="1900" dirty="0" err="1"/>
              <a:t>Pneumol</a:t>
            </a:r>
            <a:r>
              <a:rPr lang="en-US" sz="1900" dirty="0"/>
              <a:t>. 2024 Jan 5;49(6):e20230003.</a:t>
            </a:r>
          </a:p>
        </p:txBody>
      </p:sp>
      <p:sp>
        <p:nvSpPr>
          <p:cNvPr id="6" name="Title 1">
            <a:extLst>
              <a:ext uri="{FF2B5EF4-FFF2-40B4-BE49-F238E27FC236}">
                <a16:creationId xmlns:a16="http://schemas.microsoft.com/office/drawing/2014/main" id="{84823865-6598-9206-A065-80E767B9A24F}"/>
              </a:ext>
            </a:extLst>
          </p:cNvPr>
          <p:cNvSpPr txBox="1">
            <a:spLocks/>
          </p:cNvSpPr>
          <p:nvPr/>
        </p:nvSpPr>
        <p:spPr>
          <a:xfrm>
            <a:off x="481330" y="280450"/>
            <a:ext cx="8178790" cy="161848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sz="5400" b="1" u="sng" dirty="0"/>
              <a:t>References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BA6AF5-FB97-89B6-A1AF-D4D50E0B623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FB57B85-B4B6-7AD4-5F66-C63B2C461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7BA9A8B2-AB89-C22B-4DE2-CB4718AA1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6A331F9-8B17-89C9-916F-4B1E5C72B9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57B1FC-45F5-4517-57E3-AF5E98F222F6}"/>
              </a:ext>
            </a:extLst>
          </p:cNvPr>
          <p:cNvSpPr>
            <a:spLocks noGrp="1"/>
          </p:cNvSpPr>
          <p:nvPr>
            <p:ph type="ctrTitle"/>
          </p:nvPr>
        </p:nvSpPr>
        <p:spPr>
          <a:xfrm>
            <a:off x="759550" y="3041861"/>
            <a:ext cx="7707086" cy="1950627"/>
          </a:xfrm>
        </p:spPr>
        <p:txBody>
          <a:bodyPr vert="horz" lIns="91440" tIns="45720" rIns="91440" bIns="45720" rtlCol="0" anchor="ctr">
            <a:normAutofit/>
          </a:bodyPr>
          <a:lstStyle/>
          <a:p>
            <a:pPr defTabSz="914400">
              <a:lnSpc>
                <a:spcPct val="90000"/>
              </a:lnSpc>
            </a:pPr>
            <a:r>
              <a:rPr lang="en-US" b="1" kern="1200" dirty="0">
                <a:solidFill>
                  <a:schemeClr val="tx1"/>
                </a:solidFill>
                <a:latin typeface="+mj-lt"/>
                <a:ea typeface="+mj-ea"/>
                <a:cs typeface="+mj-cs"/>
              </a:rPr>
              <a:t>Incorporating Mask-Related Transmission Variability into SEIR Models</a:t>
            </a:r>
          </a:p>
        </p:txBody>
      </p:sp>
      <p:sp>
        <p:nvSpPr>
          <p:cNvPr id="3" name="Subtitle 2">
            <a:extLst>
              <a:ext uri="{FF2B5EF4-FFF2-40B4-BE49-F238E27FC236}">
                <a16:creationId xmlns:a16="http://schemas.microsoft.com/office/drawing/2014/main" id="{7BABE450-4851-3221-67B2-091C09DC0ED7}"/>
              </a:ext>
            </a:extLst>
          </p:cNvPr>
          <p:cNvSpPr>
            <a:spLocks noGrp="1"/>
          </p:cNvSpPr>
          <p:nvPr>
            <p:ph type="subTitle" idx="1"/>
          </p:nvPr>
        </p:nvSpPr>
        <p:spPr>
          <a:xfrm>
            <a:off x="1086123" y="4992488"/>
            <a:ext cx="7298327" cy="1513550"/>
          </a:xfrm>
        </p:spPr>
        <p:txBody>
          <a:bodyPr vert="horz" lIns="91440" tIns="45720" rIns="91440" bIns="45720" rtlCol="0" anchor="t">
            <a:normAutofit/>
          </a:bodyPr>
          <a:lstStyle/>
          <a:p>
            <a:pPr defTabSz="914400"/>
            <a:r>
              <a:rPr lang="en-US" sz="1600" dirty="0">
                <a:solidFill>
                  <a:schemeClr val="tx1"/>
                </a:solidFill>
              </a:rPr>
              <a:t>INF301: System Modeling and Simulation</a:t>
            </a:r>
          </a:p>
          <a:p>
            <a:pPr defTabSz="914400"/>
            <a:r>
              <a:rPr lang="en-US" sz="1600" dirty="0">
                <a:solidFill>
                  <a:schemeClr val="tx1"/>
                </a:solidFill>
              </a:rPr>
              <a:t>Saulo Gil</a:t>
            </a:r>
          </a:p>
          <a:p>
            <a:pPr defTabSz="914400"/>
            <a:r>
              <a:rPr lang="en-US" sz="1600" dirty="0">
                <a:solidFill>
                  <a:schemeClr val="tx1"/>
                </a:solidFill>
              </a:rPr>
              <a:t>Professor: Prof. Luiz Henrique </a:t>
            </a:r>
            <a:r>
              <a:rPr lang="en-US" sz="1600" dirty="0" err="1">
                <a:solidFill>
                  <a:schemeClr val="tx1"/>
                </a:solidFill>
              </a:rPr>
              <a:t>Bonani</a:t>
            </a:r>
            <a:r>
              <a:rPr lang="en-US" sz="1600" dirty="0">
                <a:solidFill>
                  <a:schemeClr val="tx1"/>
                </a:solidFill>
              </a:rPr>
              <a:t> do Nascimento</a:t>
            </a:r>
          </a:p>
        </p:txBody>
      </p:sp>
      <p:pic>
        <p:nvPicPr>
          <p:cNvPr id="4" name="Imagem 3">
            <a:extLst>
              <a:ext uri="{FF2B5EF4-FFF2-40B4-BE49-F238E27FC236}">
                <a16:creationId xmlns:a16="http://schemas.microsoft.com/office/drawing/2014/main" id="{35369DF2-DC4E-7FC6-3E69-97B205A9F48F}"/>
              </a:ext>
            </a:extLst>
          </p:cNvPr>
          <p:cNvPicPr>
            <a:picLocks noChangeAspect="1"/>
          </p:cNvPicPr>
          <p:nvPr/>
        </p:nvPicPr>
        <p:blipFill>
          <a:blip r:embed="rId2"/>
          <a:stretch>
            <a:fillRect/>
          </a:stretch>
        </p:blipFill>
        <p:spPr>
          <a:xfrm>
            <a:off x="751114" y="826876"/>
            <a:ext cx="841018" cy="828382"/>
          </a:xfrm>
          <a:prstGeom prst="rect">
            <a:avLst/>
          </a:prstGeom>
        </p:spPr>
      </p:pic>
      <p:pic>
        <p:nvPicPr>
          <p:cNvPr id="5" name="Imagem 4">
            <a:extLst>
              <a:ext uri="{FF2B5EF4-FFF2-40B4-BE49-F238E27FC236}">
                <a16:creationId xmlns:a16="http://schemas.microsoft.com/office/drawing/2014/main" id="{BC4166D3-42B8-4053-072F-7A23E7A38EEE}"/>
              </a:ext>
            </a:extLst>
          </p:cNvPr>
          <p:cNvPicPr>
            <a:picLocks noChangeAspect="1"/>
          </p:cNvPicPr>
          <p:nvPr/>
        </p:nvPicPr>
        <p:blipFill>
          <a:blip r:embed="rId2"/>
          <a:stretch>
            <a:fillRect/>
          </a:stretch>
        </p:blipFill>
        <p:spPr>
          <a:xfrm>
            <a:off x="7582199" y="813145"/>
            <a:ext cx="841018" cy="828382"/>
          </a:xfrm>
          <a:prstGeom prst="rect">
            <a:avLst/>
          </a:prstGeom>
        </p:spPr>
      </p:pic>
      <p:sp>
        <p:nvSpPr>
          <p:cNvPr id="6" name="Title 1">
            <a:extLst>
              <a:ext uri="{FF2B5EF4-FFF2-40B4-BE49-F238E27FC236}">
                <a16:creationId xmlns:a16="http://schemas.microsoft.com/office/drawing/2014/main" id="{A4757288-A02E-01A7-A179-07DEFE4EBD3F}"/>
              </a:ext>
            </a:extLst>
          </p:cNvPr>
          <p:cNvSpPr txBox="1">
            <a:spLocks/>
          </p:cNvSpPr>
          <p:nvPr/>
        </p:nvSpPr>
        <p:spPr>
          <a:xfrm>
            <a:off x="711925" y="979635"/>
            <a:ext cx="7707086" cy="1950627"/>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defTabSz="914400">
              <a:lnSpc>
                <a:spcPct val="90000"/>
              </a:lnSpc>
            </a:pPr>
            <a:r>
              <a:rPr lang="en-US" sz="5400" b="1" u="sng" dirty="0">
                <a:solidFill>
                  <a:srgbClr val="FF0000"/>
                </a:solidFill>
              </a:rPr>
              <a:t>Thank you for your attention!</a:t>
            </a:r>
          </a:p>
        </p:txBody>
      </p:sp>
    </p:spTree>
    <p:extLst>
      <p:ext uri="{BB962C8B-B14F-4D97-AF65-F5344CB8AC3E}">
        <p14:creationId xmlns:p14="http://schemas.microsoft.com/office/powerpoint/2010/main" val="13828745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646</TotalTime>
  <Words>1516</Words>
  <Application>Microsoft Office PowerPoint</Application>
  <PresentationFormat>Apresentação na tela (4:3)</PresentationFormat>
  <Paragraphs>138</Paragraphs>
  <Slides>19</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19</vt:i4>
      </vt:variant>
    </vt:vector>
  </HeadingPairs>
  <TitlesOfParts>
    <vt:vector size="23" baseType="lpstr">
      <vt:lpstr>Arial</vt:lpstr>
      <vt:lpstr>Calibri</vt:lpstr>
      <vt:lpstr>menlo</vt:lpstr>
      <vt:lpstr>Office Theme</vt:lpstr>
      <vt:lpstr>Final Project</vt:lpstr>
      <vt:lpstr>Introduction</vt:lpstr>
      <vt:lpstr>Introduction</vt:lpstr>
      <vt:lpstr>Introduction</vt:lpstr>
      <vt:lpstr>Objective</vt:lpstr>
      <vt:lpstr>SEIR Model Structure</vt:lpstr>
      <vt:lpstr>SEIR Model Structure</vt:lpstr>
      <vt:lpstr>SEIR Model Structure</vt:lpstr>
      <vt:lpstr>Model Parameters &amp; Mask Scenarios</vt:lpstr>
      <vt:lpstr>Health-care system capacity</vt:lpstr>
      <vt:lpstr>Numerical Implementation</vt:lpstr>
      <vt:lpstr>Results I – SEIR Trajectories</vt:lpstr>
      <vt:lpstr>Results I – SEIR Trajectories by Mask Scenario</vt:lpstr>
      <vt:lpstr>Results II – Comparison of Infected Curves I(t)</vt:lpstr>
      <vt:lpstr>Results III – Severe Cases and Bed Capacity</vt:lpstr>
      <vt:lpstr>Apresentação do PowerPoint</vt:lpstr>
      <vt:lpstr>Apresentação do PowerPoint</vt:lpstr>
      <vt:lpstr>Apresentação do PowerPoint</vt:lpstr>
      <vt:lpstr>Incorporating Mask-Related Transmission Variability into SEIR Models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Saulo Gil</cp:lastModifiedBy>
  <cp:revision>10</cp:revision>
  <dcterms:created xsi:type="dcterms:W3CDTF">2013-01-27T09:14:16Z</dcterms:created>
  <dcterms:modified xsi:type="dcterms:W3CDTF">2025-12-11T14:50:30Z</dcterms:modified>
  <cp:category/>
</cp:coreProperties>
</file>